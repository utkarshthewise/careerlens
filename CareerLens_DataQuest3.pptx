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0_0.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ppt/slides/slide9.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4" r:id="rId9"/>
    <p:sldId id="265"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F51ECC6-2D4B-BA92-B282-4E3DA8165BC6}" name="RISHIT BISOYI" initials="RB" userId="S::rishit.bisoyi2025@vitstudent.ac.in::cd4f7ff7-75e1-49f2-a276-375c6c14782e"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2C0BEE-8EA0-ABCF-A62F-2B9F40FC6642}" v="1" dt="2026-10-06T20:26:11.604"/>
    <p1510:client id="{8792CA87-CA5F-61F4-2F34-29E534A3DBAA}" v="7" dt="2026-10-07T05:50:44.0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2" d="100"/>
          <a:sy n="72" d="100"/>
        </p:scale>
        <p:origin x="828"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8/10/relationships/authors" Target="authors.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  <Relationship Id="rId16" Type="http://schemas.openxmlformats.org/officeDocument/2006/relationships/slide" Target="slides/slide9.xml"/>
</Relationships>
</file>

<file path=ppt/comments/modernComment_100_0.xml><?xml version="1.0" encoding="utf-8"?>
<p188:cmLst xmlns:a="http://schemas.openxmlformats.org/drawingml/2006/main" xmlns:r="http://schemas.openxmlformats.org/officeDocument/2006/relationships" xmlns:p188="http://schemas.microsoft.com/office/powerpoint/2018/8/main">
  <p188:cm id="{3B688531-0810-49A5-A43A-AC37517BACE6}" authorId="{4F51ECC6-2D4B-BA92-B282-4E3DA8165BC6}" created="2026-10-06T20:26:11.604">
    <pc:sldMkLst xmlns:pc="http://schemas.microsoft.com/office/powerpoint/2013/main/command">
      <pc:docMk/>
      <pc:sldMk cId="0" sldId="256"/>
    </pc:sldMkLst>
    <p188:txBody>
      <a:bodyPr/>
      <a:lstStyle/>
      <a:p>
        <a:r>
          <a:rPr lang="en-US"/>
          <a:t>Go to File-&gt;Create a copy-&gt;Download</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microsoft.com/office/2018/10/relationships/comments" Target="../comments/modernComment_100_0.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82880" y="2194560"/>
            <a:ext cx="1051560" cy="329184"/>
          </a:xfrm>
          <a:prstGeom prst="roundRect">
            <a:avLst>
              <a:gd name="adj" fmla="val 50000"/>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82880" y="2596896"/>
            <a:ext cx="1463040" cy="329184"/>
          </a:xfrm>
          <a:prstGeom prst="roundRect">
            <a:avLst>
              <a:gd name="adj" fmla="val 50000"/>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82880" y="2999232"/>
            <a:ext cx="1051560" cy="329184"/>
          </a:xfrm>
          <a:prstGeom prst="roundRect">
            <a:avLst>
              <a:gd name="adj" fmla="val 50000"/>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0" y="5486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521440" y="7132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521440" y="8778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521440" y="10424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55778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57424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59070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60716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087100" y="5934075"/>
            <a:ext cx="32004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237595" y="5783580"/>
            <a:ext cx="19050" cy="32004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192256" y="5888736"/>
            <a:ext cx="109728" cy="109728"/>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rc 16"/>
          <p:cNvSpPr/>
          <p:nvPr/>
        </p:nvSpPr>
        <p:spPr>
          <a:xfrm>
            <a:off x="9601200" y="640080"/>
            <a:ext cx="1097280" cy="822960"/>
          </a:xfrm>
          <a:prstGeom prst="arc">
            <a:avLst/>
          </a:prstGeom>
          <a:noFill/>
          <a:ln w="19050">
            <a:solidFill>
              <a:srgbClr val="079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560052" y="101041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10657332" y="59893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Arc 19"/>
          <p:cNvSpPr/>
          <p:nvPr/>
        </p:nvSpPr>
        <p:spPr>
          <a:xfrm>
            <a:off x="1463040" y="5303520"/>
            <a:ext cx="1005840" cy="731520"/>
          </a:xfrm>
          <a:prstGeom prst="arc">
            <a:avLst/>
          </a:prstGeom>
          <a:noFill/>
          <a:ln w="19050">
            <a:solidFill>
              <a:srgbClr val="079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1421892" y="562813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427732" y="526237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Isosceles Triangle 22"/>
          <p:cNvSpPr/>
          <p:nvPr/>
        </p:nvSpPr>
        <p:spPr>
          <a:xfrm rot="10800000">
            <a:off x="1645920" y="758952"/>
            <a:ext cx="219456" cy="256032"/>
          </a:xfrm>
          <a:prstGeom prst="triangle">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1673352" y="685800"/>
            <a:ext cx="164592" cy="91440"/>
          </a:xfrm>
          <a:prstGeom prst="roundRect">
            <a:avLst>
              <a:gd name="adj" fmla="val 20000"/>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732788" y="822960"/>
            <a:ext cx="45720" cy="45720"/>
          </a:xfrm>
          <a:prstGeom prst="ellipse">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751076" y="868680"/>
            <a:ext cx="19050" cy="137160"/>
          </a:xfrm>
          <a:prstGeom prst="rect">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645920" y="1078992"/>
            <a:ext cx="9144000" cy="1554480"/>
          </a:xfrm>
          <a:prstGeom prst="rect">
            <a:avLst/>
          </a:prstGeom>
          <a:noFill/>
        </p:spPr>
        <p:txBody>
          <a:bodyPr wrap="none" lIns="0" tIns="0" rIns="0" bIns="0">
            <a:spAutoFit/>
          </a:bodyPr>
          <a:lstStyle/>
          <a:p>
            <a:pPr>
              <a:defRPr sz="5600" b="1">
                <a:solidFill>
                  <a:srgbClr val="353334"/>
                </a:solidFill>
                <a:latin typeface="Fjalla One"/>
              </a:defRPr>
            </a:pPr>
            <a:r>
              <a:t>DATAQUEST 3.0</a:t>
            </a:r>
          </a:p>
          <a:p>
            <a:pPr>
              <a:spcBef>
                <a:spcPts val="200"/>
              </a:spcBef>
              <a:defRPr sz="3200" b="1">
                <a:solidFill>
                  <a:srgbClr val="FD1485"/>
                </a:solidFill>
                <a:latin typeface="Fjalla One"/>
              </a:defRPr>
            </a:pPr>
            <a:r>
              <a:t>ROUND 1</a:t>
            </a:r>
          </a:p>
        </p:txBody>
      </p:sp>
      <p:sp>
        <p:nvSpPr>
          <p:cNvPr id="28" name="Rectangle 27"/>
          <p:cNvSpPr/>
          <p:nvPr/>
        </p:nvSpPr>
        <p:spPr>
          <a:xfrm>
            <a:off x="1645920" y="2578608"/>
            <a:ext cx="941832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645920" y="2670048"/>
            <a:ext cx="9418320" cy="320040"/>
          </a:xfrm>
          <a:prstGeom prst="rect">
            <a:avLst/>
          </a:prstGeom>
          <a:noFill/>
        </p:spPr>
        <p:txBody>
          <a:bodyPr wrap="none" lIns="0" tIns="0" rIns="0" bIns="0">
            <a:spAutoFit/>
          </a:bodyPr>
          <a:lstStyle/>
          <a:p>
            <a:pPr>
              <a:defRPr sz="1200" b="1">
                <a:solidFill>
                  <a:srgbClr val="353334"/>
                </a:solidFill>
                <a:latin typeface="Mulish"/>
              </a:defRPr>
            </a:pPr>
            <a:r>
              <a:t>OFFICIAL PARTICIPANT PPT TEMPLATE</a:t>
            </a:r>
          </a:p>
        </p:txBody>
      </p:sp>
      <p:sp>
        <p:nvSpPr>
          <p:cNvPr id="30" name="Rounded Rectangle 29"/>
          <p:cNvSpPr/>
          <p:nvPr/>
        </p:nvSpPr>
        <p:spPr>
          <a:xfrm>
            <a:off x="1645920" y="3246120"/>
            <a:ext cx="4572000" cy="292608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1965960" y="3118104"/>
            <a:ext cx="1600200" cy="256032"/>
          </a:xfrm>
          <a:prstGeom prst="roundRect">
            <a:avLst>
              <a:gd name="adj" fmla="val 50000"/>
            </a:avLst>
          </a:prstGeom>
          <a:solidFill>
            <a:srgbClr val="079ED2"/>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PROJECT DETAILS</a:t>
            </a:r>
          </a:p>
        </p:txBody>
      </p:sp>
      <p:sp>
        <p:nvSpPr>
          <p:cNvPr id="32" name="TextBox 31"/>
          <p:cNvSpPr txBox="1"/>
          <p:nvPr/>
        </p:nvSpPr>
        <p:spPr>
          <a:xfrm>
            <a:off x="1920240" y="3520440"/>
            <a:ext cx="4023360" cy="2468880"/>
          </a:xfrm>
          <a:prstGeom prst="rect">
            <a:avLst/>
          </a:prstGeom>
          <a:noFill/>
        </p:spPr>
        <p:txBody>
          <a:bodyPr wrap="square">
            <a:spAutoFit/>
          </a:bodyPr>
          <a:lstStyle/>
          <a:p>
            <a:pPr>
              <a:defRPr sz="1100" b="1">
                <a:solidFill>
                  <a:srgbClr val="353334"/>
                </a:solidFill>
                <a:latin typeface="Fjalla One"/>
              </a:defRPr>
            </a:pPr>
            <a:r>
              <a:t>PROJECT TITLE</a:t>
            </a:r>
          </a:p>
          <a:p>
            <a:pPr>
              <a:spcBef>
                <a:spcPts val="200"/>
              </a:spcBef>
              <a:defRPr sz="1600" b="1">
                <a:solidFill>
                  <a:srgbClr val="FD1485"/>
                </a:solidFill>
                <a:latin typeface="Fjalla One"/>
              </a:defRPr>
            </a:pPr>
            <a:r>
              <a:t>CareerLens</a:t>
            </a:r>
          </a:p>
          <a:p>
            <a:pPr>
              <a:spcBef>
                <a:spcPts val="1000"/>
              </a:spcBef>
              <a:defRPr sz="1100" b="1">
                <a:solidFill>
                  <a:srgbClr val="353334"/>
                </a:solidFill>
                <a:latin typeface="Fjalla One"/>
              </a:defRPr>
            </a:pPr>
            <a:r>
              <a:t>ONE-LINE PITCH</a:t>
            </a:r>
          </a:p>
          <a:p>
            <a:pPr>
              <a:spcBef>
                <a:spcPts val="200"/>
              </a:spcBef>
              <a:defRPr sz="1050">
                <a:solidFill>
                  <a:srgbClr val="3C3C41"/>
                </a:solidFill>
                <a:latin typeface="Mulish"/>
              </a:defRPr>
            </a:pPr>
            <a:r>
              <a:t>Evidence-based employability analysis that checks every claimed skill against real proof of work and returns an explainable Job Readiness Score.</a:t>
            </a:r>
          </a:p>
          <a:p>
            <a:pPr>
              <a:spcBef>
                <a:spcPts val="1000"/>
              </a:spcBef>
              <a:defRPr sz="1100" b="1">
                <a:solidFill>
                  <a:srgbClr val="353334"/>
                </a:solidFill>
                <a:latin typeface="Fjalla One"/>
              </a:defRPr>
            </a:pPr>
            <a:r>
              <a:t>TRACK</a:t>
            </a:r>
          </a:p>
          <a:p>
            <a:pPr>
              <a:spcBef>
                <a:spcPts val="200"/>
              </a:spcBef>
              <a:defRPr sz="1050" b="1">
                <a:solidFill>
                  <a:srgbClr val="079ED2"/>
                </a:solidFill>
                <a:latin typeface="Mulish"/>
              </a:defRPr>
            </a:pPr>
            <a:r>
              <a:t>Problem Statement DQWL</a:t>
            </a:r>
          </a:p>
        </p:txBody>
      </p:sp>
      <p:sp>
        <p:nvSpPr>
          <p:cNvPr id="33" name="Rounded Rectangle 32"/>
          <p:cNvSpPr/>
          <p:nvPr/>
        </p:nvSpPr>
        <p:spPr>
          <a:xfrm>
            <a:off x="6492240" y="3246120"/>
            <a:ext cx="4572000" cy="292608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6812280" y="3118104"/>
            <a:ext cx="1600200" cy="256032"/>
          </a:xfrm>
          <a:prstGeom prst="roundRect">
            <a:avLst>
              <a:gd name="adj" fmla="val 50000"/>
            </a:avLst>
          </a:prstGeom>
          <a:solidFill>
            <a:srgbClr val="FFB903"/>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353334"/>
                </a:solidFill>
                <a:latin typeface="Mulish"/>
              </a:defRPr>
            </a:pPr>
            <a:r>
              <a:t>TEAM &amp; MEMBERS</a:t>
            </a:r>
          </a:p>
        </p:txBody>
      </p:sp>
      <p:sp>
        <p:nvSpPr>
          <p:cNvPr id="35" name="TextBox 34"/>
          <p:cNvSpPr txBox="1"/>
          <p:nvPr/>
        </p:nvSpPr>
        <p:spPr>
          <a:xfrm>
            <a:off x="6766560" y="3520440"/>
            <a:ext cx="4023360" cy="2468880"/>
          </a:xfrm>
          <a:prstGeom prst="rect">
            <a:avLst/>
          </a:prstGeom>
          <a:noFill/>
        </p:spPr>
        <p:txBody>
          <a:bodyPr wrap="square">
            <a:spAutoFit/>
          </a:bodyPr>
          <a:lstStyle/>
          <a:p>
            <a:pPr>
              <a:defRPr sz="1100" b="1">
                <a:solidFill>
                  <a:srgbClr val="353334"/>
                </a:solidFill>
                <a:latin typeface="Fjalla One"/>
              </a:defRPr>
            </a:pPr>
            <a:r>
              <a:t>TEAM</a:t>
            </a:r>
          </a:p>
          <a:p>
            <a:pPr>
              <a:spcBef>
                <a:spcPts val="200"/>
              </a:spcBef>
              <a:defRPr sz="1600" b="1">
                <a:solidFill>
                  <a:srgbClr val="353334"/>
                </a:solidFill>
                <a:latin typeface="Fjalla One"/>
              </a:defRPr>
            </a:pPr>
            <a:r>
              <a:t>Team CareerLens</a:t>
            </a:r>
          </a:p>
          <a:p>
            <a:pPr>
              <a:spcBef>
                <a:spcPts val="1000"/>
              </a:spcBef>
              <a:defRPr sz="1100" b="1">
                <a:solidFill>
                  <a:srgbClr val="353334"/>
                </a:solidFill>
                <a:latin typeface="Fjalla One"/>
              </a:defRPr>
            </a:pPr>
            <a:r>
              <a:t>PARTICIPANTS</a:t>
            </a:r>
          </a:p>
          <a:p>
            <a:pPr>
              <a:spcBef>
                <a:spcPts val="200"/>
              </a:spcBef>
              <a:defRPr sz="1050">
                <a:solidFill>
                  <a:srgbClr val="3C3C41"/>
                </a:solidFill>
                <a:latin typeface="Mulish"/>
              </a:defRPr>
            </a:pPr>
            <a:r>
              <a:t>•  Vatshal Pandey — 25BYB1219</a:t>
            </a:r>
          </a:p>
          <a:p>
            <a:pPr>
              <a:spcBef>
                <a:spcPts val="200"/>
              </a:spcBef>
              <a:defRPr sz="1050">
                <a:solidFill>
                  <a:srgbClr val="3C3C41"/>
                </a:solidFill>
                <a:latin typeface="Mulish"/>
              </a:defRPr>
            </a:pPr>
            <a:r>
              <a:t>•  Utkarsh Mishra — 25BCE1508</a:t>
            </a:r>
          </a:p>
          <a:p>
            <a:pPr>
              <a:spcBef>
                <a:spcPts val="200"/>
              </a:spcBef>
              <a:defRPr sz="1050">
                <a:solidFill>
                  <a:srgbClr val="3C3C41"/>
                </a:solidFill>
                <a:latin typeface="Mulish"/>
              </a:defRPr>
            </a:pPr>
            <a:r>
              <a:t>•  Samarth Premchandani — 25BCE5491</a:t>
            </a:r>
          </a:p>
          <a:p>
            <a:pPr>
              <a:spcBef>
                <a:spcPts val="200"/>
              </a:spcBef>
              <a:defRPr sz="1050">
                <a:solidFill>
                  <a:srgbClr val="3C3C41"/>
                </a:solidFill>
                <a:latin typeface="Mulish"/>
              </a:defRPr>
            </a:pPr>
            <a:r>
              <a:t>•  Adwit Tiwari — 25BCE5473</a:t>
            </a:r>
          </a:p>
          <a:p>
            <a:pPr>
              <a:spcBef>
                <a:spcPts val="200"/>
              </a:spcBef>
              <a:defRPr sz="1050">
                <a:solidFill>
                  <a:srgbClr val="3C3C41"/>
                </a:solidFill>
                <a:latin typeface="Mulish"/>
              </a:defRPr>
            </a:pPr>
            <a:r>
              <a:t>•  Aarav Aggarwal — 25BCE5234</a:t>
            </a:r>
          </a:p>
        </p:txBody>
      </p:sp>
    </p:spTree>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82880" y="1051560"/>
            <a:ext cx="1051560" cy="329184"/>
          </a:xfrm>
          <a:prstGeom prst="roundRect">
            <a:avLst>
              <a:gd name="adj" fmla="val 50000"/>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82880" y="1453896"/>
            <a:ext cx="1463040" cy="329184"/>
          </a:xfrm>
          <a:prstGeom prst="roundRect">
            <a:avLst>
              <a:gd name="adj" fmla="val 50000"/>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82880" y="1856232"/>
            <a:ext cx="1051560" cy="329184"/>
          </a:xfrm>
          <a:prstGeom prst="roundRect">
            <a:avLst>
              <a:gd name="adj" fmla="val 50000"/>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0" y="5486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521440" y="7132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521440" y="8778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521440" y="10424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55778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57424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59070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60716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087100" y="5934075"/>
            <a:ext cx="32004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237595" y="5783580"/>
            <a:ext cx="19050" cy="32004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192256" y="5888736"/>
            <a:ext cx="109728" cy="109728"/>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rc 16"/>
          <p:cNvSpPr/>
          <p:nvPr/>
        </p:nvSpPr>
        <p:spPr>
          <a:xfrm>
            <a:off x="8412480" y="640080"/>
            <a:ext cx="1005840" cy="822960"/>
          </a:xfrm>
          <a:prstGeom prst="arc">
            <a:avLst/>
          </a:prstGeom>
          <a:noFill/>
          <a:ln w="19050">
            <a:solidFill>
              <a:srgbClr val="079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371332" y="101041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77172" y="59893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45920" y="384048"/>
            <a:ext cx="8229600" cy="274320"/>
          </a:xfrm>
          <a:prstGeom prst="rect">
            <a:avLst/>
          </a:prstGeom>
          <a:noFill/>
        </p:spPr>
        <p:txBody>
          <a:bodyPr wrap="none" lIns="0" tIns="0" rIns="0" bIns="0">
            <a:spAutoFit/>
          </a:bodyPr>
          <a:lstStyle/>
          <a:p>
            <a:pPr>
              <a:defRPr sz="1050" b="1">
                <a:solidFill>
                  <a:srgbClr val="353334"/>
                </a:solidFill>
                <a:latin typeface="Mulish"/>
              </a:defRPr>
            </a:pPr>
            <a:r>
              <a:t>DATAQUEST 3.0  ·  ROUND 1</a:t>
            </a:r>
          </a:p>
        </p:txBody>
      </p:sp>
      <p:sp>
        <p:nvSpPr>
          <p:cNvPr id="21" name="TextBox 20"/>
          <p:cNvSpPr txBox="1"/>
          <p:nvPr/>
        </p:nvSpPr>
        <p:spPr>
          <a:xfrm>
            <a:off x="1645920" y="621792"/>
            <a:ext cx="9144000" cy="777240"/>
          </a:xfrm>
          <a:prstGeom prst="rect">
            <a:avLst/>
          </a:prstGeom>
          <a:noFill/>
        </p:spPr>
        <p:txBody>
          <a:bodyPr wrap="square" lIns="0" tIns="0" rIns="0" bIns="0">
            <a:spAutoFit/>
          </a:bodyPr>
          <a:lstStyle/>
          <a:p>
            <a:r>
              <a:rPr sz="3600" b="1">
                <a:solidFill>
                  <a:srgbClr val="FD1485"/>
                </a:solidFill>
                <a:latin typeface="Fjalla One"/>
              </a:rPr>
              <a:t>02  </a:t>
            </a:r>
            <a:r>
              <a:rPr sz="3200" b="1">
                <a:solidFill>
                  <a:srgbClr val="353334"/>
                </a:solidFill>
                <a:latin typeface="Fjalla One"/>
              </a:rPr>
              <a:t>Problem Definition</a:t>
            </a:r>
          </a:p>
        </p:txBody>
      </p:sp>
      <p:sp>
        <p:nvSpPr>
          <p:cNvPr id="22" name="Rectangle 21"/>
          <p:cNvSpPr/>
          <p:nvPr/>
        </p:nvSpPr>
        <p:spPr>
          <a:xfrm>
            <a:off x="1645920" y="1444752"/>
            <a:ext cx="941832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 y="1517904"/>
            <a:ext cx="9418320" cy="320040"/>
          </a:xfrm>
          <a:prstGeom prst="rect">
            <a:avLst/>
          </a:prstGeom>
          <a:noFill/>
        </p:spPr>
        <p:txBody>
          <a:bodyPr wrap="none" lIns="0" tIns="0" rIns="0" bIns="0">
            <a:spAutoFit/>
          </a:bodyPr>
          <a:lstStyle/>
          <a:p>
            <a:pPr>
              <a:defRPr sz="1100">
                <a:solidFill>
                  <a:srgbClr val="6E6E73"/>
                </a:solidFill>
                <a:latin typeface="Mulish"/>
              </a:defRPr>
            </a:pPr>
            <a:r>
              <a:t>Who is impacted · Today's workarounds · Why current methods fail · Concrete proof</a:t>
            </a:r>
          </a:p>
        </p:txBody>
      </p:sp>
      <p:sp>
        <p:nvSpPr>
          <p:cNvPr id="24" name="Rounded Rectangle 23"/>
          <p:cNvSpPr/>
          <p:nvPr/>
        </p:nvSpPr>
        <p:spPr>
          <a:xfrm>
            <a:off x="1645920" y="2057400"/>
            <a:ext cx="4572000" cy="21488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965960" y="1929384"/>
            <a:ext cx="1600200" cy="256032"/>
          </a:xfrm>
          <a:prstGeom prst="roundRect">
            <a:avLst>
              <a:gd name="adj" fmla="val 50000"/>
            </a:avLst>
          </a:prstGeom>
          <a:solidFill>
            <a:srgbClr val="079ED2"/>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01 · AUDIENCE</a:t>
            </a:r>
          </a:p>
        </p:txBody>
      </p:sp>
      <p:sp>
        <p:nvSpPr>
          <p:cNvPr id="26" name="TextBox 25"/>
          <p:cNvSpPr txBox="1"/>
          <p:nvPr/>
        </p:nvSpPr>
        <p:spPr>
          <a:xfrm>
            <a:off x="1920240" y="2313432"/>
            <a:ext cx="4023360" cy="1737360"/>
          </a:xfrm>
          <a:prstGeom prst="rect">
            <a:avLst/>
          </a:prstGeom>
          <a:noFill/>
        </p:spPr>
        <p:txBody>
          <a:bodyPr wrap="square">
            <a:spAutoFit/>
          </a:bodyPr>
          <a:lstStyle/>
          <a:p>
            <a:pPr>
              <a:defRPr sz="1300" b="1">
                <a:solidFill>
                  <a:srgbClr val="353334"/>
                </a:solidFill>
                <a:latin typeface="Fjalla One"/>
              </a:defRPr>
            </a:pPr>
            <a:r>
              <a:t>WHO &amp; HOW OFTEN</a:t>
            </a:r>
          </a:p>
          <a:p>
            <a:pPr>
              <a:spcBef>
                <a:spcPts val="400"/>
              </a:spcBef>
              <a:defRPr sz="1000">
                <a:solidFill>
                  <a:srgbClr val="3C3C41"/>
                </a:solidFill>
                <a:latin typeface="Mulish"/>
              </a:defRPr>
            </a:pPr>
            <a:r>
              <a:t>Students and placement cells at Indian engineering and design colleges, every placement season.</a:t>
            </a:r>
            <a:br/>
            <a:r>
              <a:t>Each student sends applications built on self-reported resumes, and each placement officer must judge whole batches of them.</a:t>
            </a:r>
          </a:p>
        </p:txBody>
      </p:sp>
      <p:sp>
        <p:nvSpPr>
          <p:cNvPr id="27" name="Rounded Rectangle 26"/>
          <p:cNvSpPr/>
          <p:nvPr/>
        </p:nvSpPr>
        <p:spPr>
          <a:xfrm>
            <a:off x="6492240" y="2057400"/>
            <a:ext cx="4572000" cy="21488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812280" y="1929384"/>
            <a:ext cx="1600200" cy="256032"/>
          </a:xfrm>
          <a:prstGeom prst="roundRect">
            <a:avLst>
              <a:gd name="adj" fmla="val 50000"/>
            </a:avLst>
          </a:prstGeom>
          <a:solidFill>
            <a:srgbClr val="FFB903"/>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353334"/>
                </a:solidFill>
                <a:latin typeface="Mulish"/>
              </a:defRPr>
            </a:pPr>
            <a:r>
              <a:t>02 · STATUS QUO</a:t>
            </a:r>
          </a:p>
        </p:txBody>
      </p:sp>
      <p:sp>
        <p:nvSpPr>
          <p:cNvPr id="29" name="TextBox 28"/>
          <p:cNvSpPr txBox="1"/>
          <p:nvPr/>
        </p:nvSpPr>
        <p:spPr>
          <a:xfrm>
            <a:off x="6766560" y="2313432"/>
            <a:ext cx="4023360" cy="1737360"/>
          </a:xfrm>
          <a:prstGeom prst="rect">
            <a:avLst/>
          </a:prstGeom>
          <a:noFill/>
        </p:spPr>
        <p:txBody>
          <a:bodyPr wrap="square">
            <a:spAutoFit/>
          </a:bodyPr>
          <a:lstStyle/>
          <a:p>
            <a:pPr>
              <a:defRPr sz="1300" b="1">
                <a:solidFill>
                  <a:srgbClr val="353334"/>
                </a:solidFill>
                <a:latin typeface="Fjalla One"/>
              </a:defRPr>
            </a:pPr>
            <a:r>
              <a:t>CURRENT APPROACH</a:t>
            </a:r>
          </a:p>
          <a:p>
            <a:pPr>
              <a:spcBef>
                <a:spcPts val="400"/>
              </a:spcBef>
              <a:defRPr sz="1000">
                <a:solidFill>
                  <a:srgbClr val="3C3C41"/>
                </a:solidFill>
                <a:latin typeface="Mulish"/>
              </a:defRPr>
            </a:pPr>
            <a:r>
              <a:t>Keyword-matching resume tools (Jobscan, Teal, Simplify, Huntr, Rezi) and test-based platforms (Superset, Mettl, Unstop).</a:t>
            </a:r>
            <a:br/>
            <a:r>
              <a:t>Placement officers rely on test scores and resume reading, and students guess what to learn next.</a:t>
            </a:r>
          </a:p>
        </p:txBody>
      </p:sp>
      <p:sp>
        <p:nvSpPr>
          <p:cNvPr id="30" name="Rounded Rectangle 29"/>
          <p:cNvSpPr/>
          <p:nvPr/>
        </p:nvSpPr>
        <p:spPr>
          <a:xfrm>
            <a:off x="1645920" y="4389120"/>
            <a:ext cx="4572000" cy="21488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1965960" y="4261104"/>
            <a:ext cx="1600200" cy="256032"/>
          </a:xfrm>
          <a:prstGeom prst="roundRect">
            <a:avLst>
              <a:gd name="adj" fmla="val 50000"/>
            </a:avLst>
          </a:prstGeom>
          <a:solidFill>
            <a:srgbClr val="FD1485"/>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03 · DEFICIENCY</a:t>
            </a:r>
          </a:p>
        </p:txBody>
      </p:sp>
      <p:sp>
        <p:nvSpPr>
          <p:cNvPr id="32" name="TextBox 31"/>
          <p:cNvSpPr txBox="1"/>
          <p:nvPr/>
        </p:nvSpPr>
        <p:spPr>
          <a:xfrm>
            <a:off x="1920240" y="4645152"/>
            <a:ext cx="4023360" cy="1737360"/>
          </a:xfrm>
          <a:prstGeom prst="rect">
            <a:avLst/>
          </a:prstGeom>
          <a:noFill/>
        </p:spPr>
        <p:txBody>
          <a:bodyPr wrap="square">
            <a:spAutoFit/>
          </a:bodyPr>
          <a:lstStyle/>
          <a:p>
            <a:pPr>
              <a:defRPr sz="1300" b="1">
                <a:solidFill>
                  <a:srgbClr val="353334"/>
                </a:solidFill>
                <a:latin typeface="Fjalla One"/>
              </a:defRPr>
            </a:pPr>
            <a:r>
              <a:t>WHY IT FALLS SHORT</a:t>
            </a:r>
          </a:p>
          <a:p>
            <a:pPr>
              <a:spcBef>
                <a:spcPts val="400"/>
              </a:spcBef>
              <a:defRPr sz="1000">
                <a:solidFill>
                  <a:srgbClr val="3C3C41"/>
                </a:solidFill>
                <a:latin typeface="Mulish"/>
              </a:defRPr>
            </a:pPr>
            <a:r>
              <a:t>A resume skill is a claim, not proof. Keyword tools never check it against code, commits or design work.</a:t>
            </a:r>
            <a:br/>
            <a:r>
              <a:t>Scores are opaque percentages, test platforms ignore what students actually built, and nobody sees how consistently they learn and build.</a:t>
            </a:r>
          </a:p>
        </p:txBody>
      </p:sp>
      <p:sp>
        <p:nvSpPr>
          <p:cNvPr id="33" name="Rounded Rectangle 32"/>
          <p:cNvSpPr/>
          <p:nvPr/>
        </p:nvSpPr>
        <p:spPr>
          <a:xfrm>
            <a:off x="6492240" y="4389120"/>
            <a:ext cx="4572000" cy="21488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6812280" y="4261104"/>
            <a:ext cx="1600200" cy="256032"/>
          </a:xfrm>
          <a:prstGeom prst="roundRect">
            <a:avLst>
              <a:gd name="adj" fmla="val 50000"/>
            </a:avLst>
          </a:prstGeom>
          <a:solidFill>
            <a:srgbClr val="353334"/>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04 · VALIDATION</a:t>
            </a:r>
          </a:p>
        </p:txBody>
      </p:sp>
      <p:sp>
        <p:nvSpPr>
          <p:cNvPr id="35" name="TextBox 34"/>
          <p:cNvSpPr txBox="1"/>
          <p:nvPr/>
        </p:nvSpPr>
        <p:spPr>
          <a:xfrm>
            <a:off x="6766560" y="4645152"/>
            <a:ext cx="4023360" cy="1737360"/>
          </a:xfrm>
          <a:prstGeom prst="rect">
            <a:avLst/>
          </a:prstGeom>
          <a:noFill/>
        </p:spPr>
        <p:txBody>
          <a:bodyPr wrap="square">
            <a:spAutoFit/>
          </a:bodyPr>
          <a:lstStyle/>
          <a:p>
            <a:pPr>
              <a:defRPr sz="1300" b="1">
                <a:solidFill>
                  <a:srgbClr val="353334"/>
                </a:solidFill>
                <a:latin typeface="Fjalla One"/>
              </a:defRPr>
            </a:pPr>
            <a:r>
              <a:t>EVIDENCE</a:t>
            </a:r>
          </a:p>
          <a:p>
            <a:pPr>
              <a:spcBef>
                <a:spcPts val="400"/>
              </a:spcBef>
              <a:defRPr sz="1000">
                <a:solidFill>
                  <a:srgbClr val="3C3C41"/>
                </a:solidFill>
                <a:latin typeface="Mulish"/>
              </a:defRPr>
            </a:pPr>
            <a:r>
              <a:t>India Skills Report 2026 puts graduate employability at 56.35%.</a:t>
            </a:r>
            <a:br/>
            <a:r>
              <a:t>Our audit of 9 mainstream job tools (Jobscan, Teal, Simplify, Huntr, Rezi, Careerflow, Jobright, Enhancv, Kickresume) found none that verifies a claimed skill against code or commits.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82880" y="1051560"/>
            <a:ext cx="1051560" cy="329184"/>
          </a:xfrm>
          <a:prstGeom prst="roundRect">
            <a:avLst>
              <a:gd name="adj" fmla="val 50000"/>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82880" y="1453896"/>
            <a:ext cx="1463040" cy="329184"/>
          </a:xfrm>
          <a:prstGeom prst="roundRect">
            <a:avLst>
              <a:gd name="adj" fmla="val 50000"/>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82880" y="1856232"/>
            <a:ext cx="1051560" cy="329184"/>
          </a:xfrm>
          <a:prstGeom prst="roundRect">
            <a:avLst>
              <a:gd name="adj" fmla="val 50000"/>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0" y="5486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521440" y="7132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521440" y="8778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521440" y="10424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55778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57424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59070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60716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087100" y="5934075"/>
            <a:ext cx="32004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237595" y="5783580"/>
            <a:ext cx="19050" cy="32004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192256" y="5888736"/>
            <a:ext cx="109728" cy="109728"/>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rc 16"/>
          <p:cNvSpPr/>
          <p:nvPr/>
        </p:nvSpPr>
        <p:spPr>
          <a:xfrm>
            <a:off x="8412480" y="640080"/>
            <a:ext cx="1005840" cy="822960"/>
          </a:xfrm>
          <a:prstGeom prst="arc">
            <a:avLst/>
          </a:prstGeom>
          <a:noFill/>
          <a:ln w="19050">
            <a:solidFill>
              <a:srgbClr val="079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371332" y="101041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77172" y="59893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45920" y="384048"/>
            <a:ext cx="8229600" cy="274320"/>
          </a:xfrm>
          <a:prstGeom prst="rect">
            <a:avLst/>
          </a:prstGeom>
          <a:noFill/>
        </p:spPr>
        <p:txBody>
          <a:bodyPr wrap="none" lIns="0" tIns="0" rIns="0" bIns="0">
            <a:spAutoFit/>
          </a:bodyPr>
          <a:lstStyle/>
          <a:p>
            <a:pPr>
              <a:defRPr sz="1050" b="1">
                <a:solidFill>
                  <a:srgbClr val="353334"/>
                </a:solidFill>
                <a:latin typeface="Mulish"/>
              </a:defRPr>
            </a:pPr>
            <a:r>
              <a:t>DATAQUEST 3.0  ·  ROUND 1</a:t>
            </a:r>
          </a:p>
        </p:txBody>
      </p:sp>
      <p:sp>
        <p:nvSpPr>
          <p:cNvPr id="21" name="TextBox 20"/>
          <p:cNvSpPr txBox="1"/>
          <p:nvPr/>
        </p:nvSpPr>
        <p:spPr>
          <a:xfrm>
            <a:off x="1645920" y="621792"/>
            <a:ext cx="9144000" cy="777240"/>
          </a:xfrm>
          <a:prstGeom prst="rect">
            <a:avLst/>
          </a:prstGeom>
          <a:noFill/>
        </p:spPr>
        <p:txBody>
          <a:bodyPr wrap="square" lIns="0" tIns="0" rIns="0" bIns="0">
            <a:spAutoFit/>
          </a:bodyPr>
          <a:lstStyle/>
          <a:p>
            <a:r>
              <a:rPr sz="3600" b="1">
                <a:solidFill>
                  <a:srgbClr val="FD1485"/>
                </a:solidFill>
                <a:latin typeface="Fjalla One"/>
              </a:rPr>
              <a:t>03  </a:t>
            </a:r>
            <a:r>
              <a:rPr sz="3200" b="1">
                <a:solidFill>
                  <a:srgbClr val="353334"/>
                </a:solidFill>
                <a:latin typeface="Fjalla One"/>
              </a:rPr>
              <a:t>Proposed Solution</a:t>
            </a:r>
          </a:p>
        </p:txBody>
      </p:sp>
      <p:sp>
        <p:nvSpPr>
          <p:cNvPr id="22" name="Rectangle 21"/>
          <p:cNvSpPr/>
          <p:nvPr/>
        </p:nvSpPr>
        <p:spPr>
          <a:xfrm>
            <a:off x="1645920" y="1444752"/>
            <a:ext cx="941832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 y="1517904"/>
            <a:ext cx="9418320" cy="320040"/>
          </a:xfrm>
          <a:prstGeom prst="rect">
            <a:avLst/>
          </a:prstGeom>
          <a:noFill/>
        </p:spPr>
        <p:txBody>
          <a:bodyPr wrap="none" lIns="0" tIns="0" rIns="0" bIns="0">
            <a:spAutoFit/>
          </a:bodyPr>
          <a:lstStyle/>
          <a:p>
            <a:pPr>
              <a:defRPr sz="1100">
                <a:solidFill>
                  <a:srgbClr val="6E6E73"/>
                </a:solidFill>
                <a:latin typeface="Mulish"/>
              </a:defRPr>
            </a:pPr>
            <a:r>
              <a:t>System identity · End-to-end user workflow · Competitive advantages</a:t>
            </a:r>
          </a:p>
        </p:txBody>
      </p:sp>
      <p:sp>
        <p:nvSpPr>
          <p:cNvPr id="24" name="Rounded Rectangle 23"/>
          <p:cNvSpPr/>
          <p:nvPr/>
        </p:nvSpPr>
        <p:spPr>
          <a:xfrm>
            <a:off x="1645920" y="2011680"/>
            <a:ext cx="9418320" cy="118872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965960" y="1883664"/>
            <a:ext cx="1600200" cy="256032"/>
          </a:xfrm>
          <a:prstGeom prst="roundRect">
            <a:avLst>
              <a:gd name="adj" fmla="val 50000"/>
            </a:avLst>
          </a:prstGeom>
          <a:solidFill>
            <a:srgbClr val="FD1485"/>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SOLUTION CORE</a:t>
            </a:r>
          </a:p>
        </p:txBody>
      </p:sp>
      <p:sp>
        <p:nvSpPr>
          <p:cNvPr id="26" name="TextBox 25"/>
          <p:cNvSpPr txBox="1"/>
          <p:nvPr/>
        </p:nvSpPr>
        <p:spPr>
          <a:xfrm>
            <a:off x="1920240" y="2194560"/>
            <a:ext cx="8869680" cy="914400"/>
          </a:xfrm>
          <a:prstGeom prst="rect">
            <a:avLst/>
          </a:prstGeom>
          <a:noFill/>
        </p:spPr>
        <p:txBody>
          <a:bodyPr wrap="square">
            <a:spAutoFit/>
          </a:bodyPr>
          <a:lstStyle/>
          <a:p>
            <a:pPr>
              <a:defRPr sz="1600" b="1">
                <a:solidFill>
                  <a:srgbClr val="353334"/>
                </a:solidFill>
                <a:latin typeface="Fjalla One"/>
              </a:defRPr>
            </a:pPr>
            <a:r>
              <a:t>CareerLens</a:t>
            </a:r>
          </a:p>
          <a:p>
            <a:pPr>
              <a:spcBef>
                <a:spcPts val="300"/>
              </a:spcBef>
              <a:defRPr sz="1000">
                <a:solidFill>
                  <a:srgbClr val="3C3C41"/>
                </a:solidFill>
                <a:latin typeface="Mulish"/>
              </a:defRPr>
            </a:pPr>
            <a:r>
              <a:t>Reads a student's resume, GitHub, portfolio links and LinkedIn export, verifies each claimed skill against real proof of work, and returns an explainable Job Readiness Score, skill-gap report, role-fit suggestions and a step-by-step roadmap.</a:t>
            </a:r>
          </a:p>
        </p:txBody>
      </p:sp>
      <p:sp>
        <p:nvSpPr>
          <p:cNvPr id="27" name="Rounded Rectangle 26"/>
          <p:cNvSpPr/>
          <p:nvPr/>
        </p:nvSpPr>
        <p:spPr>
          <a:xfrm>
            <a:off x="1645920" y="3383280"/>
            <a:ext cx="9418320" cy="128016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1965960" y="3255264"/>
            <a:ext cx="1600200" cy="256032"/>
          </a:xfrm>
          <a:prstGeom prst="roundRect">
            <a:avLst>
              <a:gd name="adj" fmla="val 50000"/>
            </a:avLst>
          </a:prstGeom>
          <a:solidFill>
            <a:srgbClr val="079ED2"/>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USER FLOW</a:t>
            </a:r>
          </a:p>
        </p:txBody>
      </p:sp>
      <p:sp>
        <p:nvSpPr>
          <p:cNvPr id="29" name="Rounded Rectangle 28"/>
          <p:cNvSpPr/>
          <p:nvPr/>
        </p:nvSpPr>
        <p:spPr>
          <a:xfrm>
            <a:off x="1920240" y="3822192"/>
            <a:ext cx="2560320" cy="640080"/>
          </a:xfrm>
          <a:prstGeom prst="roundRect">
            <a:avLst>
              <a:gd name="adj" fmla="val 8000"/>
            </a:avLst>
          </a:prstGeom>
          <a:solidFill>
            <a:srgbClr val="FFFFFF"/>
          </a:solidFill>
          <a:ln w="19050">
            <a:solidFill>
              <a:srgbClr val="079ED2"/>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353334"/>
                </a:solidFill>
                <a:latin typeface="Fjalla One"/>
              </a:defRPr>
            </a:pPr>
            <a:r>
              <a:t>1. USER INPUT</a:t>
            </a:r>
          </a:p>
          <a:p>
            <a:pPr algn="ctr">
              <a:defRPr sz="850">
                <a:solidFill>
                  <a:srgbClr val="3C3C41"/>
                </a:solidFill>
                <a:latin typeface="Mulish"/>
              </a:defRPr>
            </a:pPr>
            <a:r>
              <a:t>Resume, GitHub, portfolio, LinkedIn PDF, target role</a:t>
            </a:r>
          </a:p>
        </p:txBody>
      </p:sp>
      <p:sp>
        <p:nvSpPr>
          <p:cNvPr id="30" name="TextBox 29"/>
          <p:cNvSpPr txBox="1"/>
          <p:nvPr/>
        </p:nvSpPr>
        <p:spPr>
          <a:xfrm>
            <a:off x="4590288" y="3931920"/>
            <a:ext cx="329184" cy="365760"/>
          </a:xfrm>
          <a:prstGeom prst="rect">
            <a:avLst/>
          </a:prstGeom>
          <a:noFill/>
        </p:spPr>
        <p:txBody>
          <a:bodyPr wrap="none" lIns="0" tIns="0" rIns="0" bIns="0">
            <a:spAutoFit/>
          </a:bodyPr>
          <a:lstStyle/>
          <a:p>
            <a:pPr algn="ctr">
              <a:defRPr sz="1800" b="1">
                <a:solidFill>
                  <a:srgbClr val="353334"/>
                </a:solidFill>
                <a:latin typeface="Mulish"/>
              </a:defRPr>
            </a:pPr>
            <a:r>
              <a:t>➔</a:t>
            </a:r>
          </a:p>
        </p:txBody>
      </p:sp>
      <p:sp>
        <p:nvSpPr>
          <p:cNvPr id="31" name="Rounded Rectangle 30"/>
          <p:cNvSpPr/>
          <p:nvPr/>
        </p:nvSpPr>
        <p:spPr>
          <a:xfrm>
            <a:off x="5029200" y="3822192"/>
            <a:ext cx="2560320" cy="640080"/>
          </a:xfrm>
          <a:prstGeom prst="roundRect">
            <a:avLst>
              <a:gd name="adj" fmla="val 8000"/>
            </a:avLst>
          </a:prstGeom>
          <a:solidFill>
            <a:srgbClr val="FFFFFF"/>
          </a:solidFill>
          <a:ln w="19050">
            <a:solidFill>
              <a:srgbClr val="FFB903"/>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353334"/>
                </a:solidFill>
                <a:latin typeface="Fjalla One"/>
              </a:defRPr>
            </a:pPr>
            <a:r>
              <a:t>2. PROCESSING</a:t>
            </a:r>
          </a:p>
          <a:p>
            <a:pPr algn="ctr">
              <a:defRPr sz="850">
                <a:solidFill>
                  <a:srgbClr val="3C3C41"/>
                </a:solidFill>
                <a:latin typeface="Mulish"/>
              </a:defRPr>
            </a:pPr>
            <a:r>
              <a:t>Evidence detectors + LLM judge, then deterministic score</a:t>
            </a:r>
          </a:p>
        </p:txBody>
      </p:sp>
      <p:sp>
        <p:nvSpPr>
          <p:cNvPr id="32" name="TextBox 31"/>
          <p:cNvSpPr txBox="1"/>
          <p:nvPr/>
        </p:nvSpPr>
        <p:spPr>
          <a:xfrm>
            <a:off x="7699248" y="3931920"/>
            <a:ext cx="329184" cy="365760"/>
          </a:xfrm>
          <a:prstGeom prst="rect">
            <a:avLst/>
          </a:prstGeom>
          <a:noFill/>
        </p:spPr>
        <p:txBody>
          <a:bodyPr wrap="none" lIns="0" tIns="0" rIns="0" bIns="0">
            <a:spAutoFit/>
          </a:bodyPr>
          <a:lstStyle/>
          <a:p>
            <a:pPr algn="ctr">
              <a:defRPr sz="1800" b="1">
                <a:solidFill>
                  <a:srgbClr val="353334"/>
                </a:solidFill>
                <a:latin typeface="Mulish"/>
              </a:defRPr>
            </a:pPr>
            <a:r>
              <a:t>➔</a:t>
            </a:r>
          </a:p>
        </p:txBody>
      </p:sp>
      <p:sp>
        <p:nvSpPr>
          <p:cNvPr id="33" name="Rounded Rectangle 32"/>
          <p:cNvSpPr/>
          <p:nvPr/>
        </p:nvSpPr>
        <p:spPr>
          <a:xfrm>
            <a:off x="8138160" y="3822192"/>
            <a:ext cx="2560320" cy="640080"/>
          </a:xfrm>
          <a:prstGeom prst="roundRect">
            <a:avLst>
              <a:gd name="adj" fmla="val 8000"/>
            </a:avLst>
          </a:prstGeom>
          <a:solidFill>
            <a:srgbClr val="FFFFFF"/>
          </a:solidFill>
          <a:ln w="19050">
            <a:solidFill>
              <a:srgbClr val="FD1485"/>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353334"/>
                </a:solidFill>
                <a:latin typeface="Fjalla One"/>
              </a:defRPr>
            </a:pPr>
            <a:r>
              <a:t>3. OUTPUT</a:t>
            </a:r>
          </a:p>
          <a:p>
            <a:pPr algn="ctr">
              <a:defRPr sz="850">
                <a:solidFill>
                  <a:srgbClr val="3C3C41"/>
                </a:solidFill>
                <a:latin typeface="Mulish"/>
              </a:defRPr>
            </a:pPr>
            <a:r>
              <a:t>Score, proof links, gaps, roadmap, cohort view</a:t>
            </a:r>
          </a:p>
        </p:txBody>
      </p:sp>
      <p:sp>
        <p:nvSpPr>
          <p:cNvPr id="34" name="Rounded Rectangle 33"/>
          <p:cNvSpPr/>
          <p:nvPr/>
        </p:nvSpPr>
        <p:spPr>
          <a:xfrm>
            <a:off x="1645920" y="4846320"/>
            <a:ext cx="4572000" cy="16916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1965960" y="4718304"/>
            <a:ext cx="1600200" cy="256032"/>
          </a:xfrm>
          <a:prstGeom prst="roundRect">
            <a:avLst>
              <a:gd name="adj" fmla="val 50000"/>
            </a:avLst>
          </a:prstGeom>
          <a:solidFill>
            <a:srgbClr val="FFB903"/>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353334"/>
                </a:solidFill>
                <a:latin typeface="Mulish"/>
              </a:defRPr>
            </a:pPr>
            <a:r>
              <a:t>ADVANTAGE</a:t>
            </a:r>
          </a:p>
        </p:txBody>
      </p:sp>
      <p:sp>
        <p:nvSpPr>
          <p:cNvPr id="36" name="TextBox 35"/>
          <p:cNvSpPr txBox="1"/>
          <p:nvPr/>
        </p:nvSpPr>
        <p:spPr>
          <a:xfrm>
            <a:off x="1920240" y="5074920"/>
            <a:ext cx="4023360" cy="1325880"/>
          </a:xfrm>
          <a:prstGeom prst="rect">
            <a:avLst/>
          </a:prstGeom>
          <a:noFill/>
        </p:spPr>
        <p:txBody>
          <a:bodyPr wrap="square">
            <a:spAutoFit/>
          </a:bodyPr>
          <a:lstStyle/>
          <a:p>
            <a:pPr>
              <a:defRPr sz="1200" b="1">
                <a:solidFill>
                  <a:srgbClr val="353334"/>
                </a:solidFill>
                <a:latin typeface="Fjalla One"/>
              </a:defRPr>
            </a:pPr>
            <a:r>
              <a:t>WHY IT IS BETTER</a:t>
            </a:r>
          </a:p>
          <a:p>
            <a:pPr>
              <a:spcBef>
                <a:spcPts val="300"/>
              </a:spcBef>
              <a:defRPr sz="1000">
                <a:solidFill>
                  <a:srgbClr val="3C3C41"/>
                </a:solidFill>
                <a:latin typeface="Mulish"/>
              </a:defRPr>
            </a:pPr>
            <a:r>
              <a:t>Every skill is labelled strong, moderate, weak or unverified, with a proof link.</a:t>
            </a:r>
            <a:br/>
            <a:r>
              <a:t>Replaces opaque keyword percentages with a 0–100 score where every point traces to a signal, plus a batch view for placement cells.</a:t>
            </a:r>
          </a:p>
        </p:txBody>
      </p:sp>
      <p:sp>
        <p:nvSpPr>
          <p:cNvPr id="37" name="Rounded Rectangle 36"/>
          <p:cNvSpPr/>
          <p:nvPr/>
        </p:nvSpPr>
        <p:spPr>
          <a:xfrm>
            <a:off x="6492240" y="4846320"/>
            <a:ext cx="4572000" cy="16916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6812280" y="4718304"/>
            <a:ext cx="1600200" cy="256032"/>
          </a:xfrm>
          <a:prstGeom prst="roundRect">
            <a:avLst>
              <a:gd name="adj" fmla="val 50000"/>
            </a:avLst>
          </a:prstGeom>
          <a:solidFill>
            <a:srgbClr val="FD1485"/>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INNOVATION</a:t>
            </a:r>
          </a:p>
        </p:txBody>
      </p:sp>
      <p:sp>
        <p:nvSpPr>
          <p:cNvPr id="39" name="TextBox 38"/>
          <p:cNvSpPr txBox="1"/>
          <p:nvPr/>
        </p:nvSpPr>
        <p:spPr>
          <a:xfrm>
            <a:off x="6766560" y="5074920"/>
            <a:ext cx="4023360" cy="1325880"/>
          </a:xfrm>
          <a:prstGeom prst="rect">
            <a:avLst/>
          </a:prstGeom>
          <a:noFill/>
        </p:spPr>
        <p:txBody>
          <a:bodyPr wrap="square">
            <a:spAutoFit/>
          </a:bodyPr>
          <a:lstStyle/>
          <a:p>
            <a:pPr>
              <a:defRPr sz="1200" b="1">
                <a:solidFill>
                  <a:srgbClr val="353334"/>
                </a:solidFill>
                <a:latin typeface="Fjalla One"/>
              </a:defRPr>
            </a:pPr>
            <a:r>
              <a:t>WHAT IS DIFFERENT</a:t>
            </a:r>
          </a:p>
          <a:p>
            <a:pPr>
              <a:spcBef>
                <a:spcPts val="300"/>
              </a:spcBef>
              <a:defRPr sz="1000">
                <a:solidFill>
                  <a:srgbClr val="3C3C41"/>
                </a:solidFill>
                <a:latin typeface="Mulish"/>
              </a:defRPr>
            </a:pPr>
            <a:r>
              <a:t>The score is computed deterministically from published signals; the LLM only extracts and judges.</a:t>
            </a:r>
            <a:br/>
            <a:r>
              <a:t>Flags describe missing evidence, never who wrote the text, and design work counts as evidence too.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82880" y="1051560"/>
            <a:ext cx="1051560" cy="329184"/>
          </a:xfrm>
          <a:prstGeom prst="roundRect">
            <a:avLst>
              <a:gd name="adj" fmla="val 50000"/>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82880" y="1453896"/>
            <a:ext cx="1463040" cy="329184"/>
          </a:xfrm>
          <a:prstGeom prst="roundRect">
            <a:avLst>
              <a:gd name="adj" fmla="val 50000"/>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82880" y="1856232"/>
            <a:ext cx="1051560" cy="329184"/>
          </a:xfrm>
          <a:prstGeom prst="roundRect">
            <a:avLst>
              <a:gd name="adj" fmla="val 50000"/>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0" y="5486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521440" y="7132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521440" y="8778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521440" y="10424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55778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57424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59070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60716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087100" y="5934075"/>
            <a:ext cx="32004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237595" y="5783580"/>
            <a:ext cx="19050" cy="32004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192256" y="5888736"/>
            <a:ext cx="109728" cy="109728"/>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rc 16"/>
          <p:cNvSpPr/>
          <p:nvPr/>
        </p:nvSpPr>
        <p:spPr>
          <a:xfrm>
            <a:off x="8412480" y="640080"/>
            <a:ext cx="1005840" cy="822960"/>
          </a:xfrm>
          <a:prstGeom prst="arc">
            <a:avLst/>
          </a:prstGeom>
          <a:noFill/>
          <a:ln w="19050">
            <a:solidFill>
              <a:srgbClr val="079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371332" y="101041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77172" y="59893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45920" y="384048"/>
            <a:ext cx="8229600" cy="274320"/>
          </a:xfrm>
          <a:prstGeom prst="rect">
            <a:avLst/>
          </a:prstGeom>
          <a:noFill/>
        </p:spPr>
        <p:txBody>
          <a:bodyPr wrap="none" lIns="0" tIns="0" rIns="0" bIns="0">
            <a:spAutoFit/>
          </a:bodyPr>
          <a:lstStyle/>
          <a:p>
            <a:pPr>
              <a:defRPr sz="1050" b="1">
                <a:solidFill>
                  <a:srgbClr val="353334"/>
                </a:solidFill>
                <a:latin typeface="Mulish"/>
              </a:defRPr>
            </a:pPr>
            <a:r>
              <a:t>DATAQUEST 3.0  ·  ROUND 1</a:t>
            </a:r>
          </a:p>
        </p:txBody>
      </p:sp>
      <p:sp>
        <p:nvSpPr>
          <p:cNvPr id="21" name="TextBox 20"/>
          <p:cNvSpPr txBox="1"/>
          <p:nvPr/>
        </p:nvSpPr>
        <p:spPr>
          <a:xfrm>
            <a:off x="1645920" y="621792"/>
            <a:ext cx="9144000" cy="777240"/>
          </a:xfrm>
          <a:prstGeom prst="rect">
            <a:avLst/>
          </a:prstGeom>
          <a:noFill/>
        </p:spPr>
        <p:txBody>
          <a:bodyPr wrap="square" lIns="0" tIns="0" rIns="0" bIns="0">
            <a:spAutoFit/>
          </a:bodyPr>
          <a:lstStyle/>
          <a:p>
            <a:r>
              <a:rPr sz="3600" b="1">
                <a:solidFill>
                  <a:srgbClr val="FD1485"/>
                </a:solidFill>
                <a:latin typeface="Fjalla One"/>
              </a:rPr>
              <a:t>04  </a:t>
            </a:r>
            <a:r>
              <a:rPr sz="3200" b="1">
                <a:solidFill>
                  <a:srgbClr val="353334"/>
                </a:solidFill>
                <a:latin typeface="Fjalla One"/>
              </a:rPr>
              <a:t>System Architecture</a:t>
            </a:r>
          </a:p>
        </p:txBody>
      </p:sp>
      <p:sp>
        <p:nvSpPr>
          <p:cNvPr id="22" name="Rectangle 21"/>
          <p:cNvSpPr/>
          <p:nvPr/>
        </p:nvSpPr>
        <p:spPr>
          <a:xfrm>
            <a:off x="1645920" y="1444752"/>
            <a:ext cx="941832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 y="1517904"/>
            <a:ext cx="9418320" cy="320040"/>
          </a:xfrm>
          <a:prstGeom prst="rect">
            <a:avLst/>
          </a:prstGeom>
          <a:noFill/>
        </p:spPr>
        <p:txBody>
          <a:bodyPr wrap="none" lIns="0" tIns="0" rIns="0" bIns="0">
            <a:spAutoFit/>
          </a:bodyPr>
          <a:lstStyle/>
          <a:p>
            <a:pPr>
              <a:defRPr sz="1100">
                <a:solidFill>
                  <a:srgbClr val="6E6E73"/>
                </a:solidFill>
                <a:latin typeface="Mulish"/>
              </a:defRPr>
            </a:pPr>
            <a:r>
              <a:t>System diagram is the primary visual · Engineering decisions · Validation</a:t>
            </a:r>
          </a:p>
        </p:txBody>
      </p:sp>
      <p:sp>
        <p:nvSpPr>
          <p:cNvPr id="24" name="Rounded Rectangle 23"/>
          <p:cNvSpPr/>
          <p:nvPr/>
        </p:nvSpPr>
        <p:spPr>
          <a:xfrm>
            <a:off x="1645920" y="2011680"/>
            <a:ext cx="9418320" cy="265176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965960" y="1883664"/>
            <a:ext cx="1600200" cy="256032"/>
          </a:xfrm>
          <a:prstGeom prst="roundRect">
            <a:avLst>
              <a:gd name="adj" fmla="val 50000"/>
            </a:avLst>
          </a:prstGeom>
          <a:solidFill>
            <a:srgbClr val="353334"/>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SYSTEM DIAGRAM</a:t>
            </a:r>
          </a:p>
        </p:txBody>
      </p:sp>
      <p:sp>
        <p:nvSpPr>
          <p:cNvPr id="26" name="Rounded Rectangle 25"/>
          <p:cNvSpPr/>
          <p:nvPr/>
        </p:nvSpPr>
        <p:spPr>
          <a:xfrm>
            <a:off x="1920240" y="2331720"/>
            <a:ext cx="8869680" cy="2148840"/>
          </a:xfrm>
          <a:prstGeom prst="roundRect">
            <a:avLst>
              <a:gd name="adj" fmla="val 3500"/>
            </a:avLst>
          </a:prstGeom>
          <a:solidFill>
            <a:srgbClr val="FFFFF1"/>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1645920" y="4892040"/>
            <a:ext cx="2971800" cy="164592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1965960" y="4764024"/>
            <a:ext cx="1600200" cy="256032"/>
          </a:xfrm>
          <a:prstGeom prst="roundRect">
            <a:avLst>
              <a:gd name="adj" fmla="val 50000"/>
            </a:avLst>
          </a:prstGeom>
          <a:solidFill>
            <a:srgbClr val="FFB903"/>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353334"/>
                </a:solidFill>
                <a:latin typeface="Mulish"/>
              </a:defRPr>
            </a:pPr>
            <a:r>
              <a:t>TECH 01</a:t>
            </a:r>
          </a:p>
        </p:txBody>
      </p:sp>
      <p:sp>
        <p:nvSpPr>
          <p:cNvPr id="30" name="TextBox 29"/>
          <p:cNvSpPr txBox="1"/>
          <p:nvPr/>
        </p:nvSpPr>
        <p:spPr>
          <a:xfrm>
            <a:off x="1828800" y="5093208"/>
            <a:ext cx="2606040" cy="1325880"/>
          </a:xfrm>
          <a:prstGeom prst="rect">
            <a:avLst/>
          </a:prstGeom>
          <a:noFill/>
        </p:spPr>
        <p:txBody>
          <a:bodyPr wrap="square">
            <a:spAutoFit/>
          </a:bodyPr>
          <a:lstStyle/>
          <a:p>
            <a:pPr>
              <a:defRPr sz="1100" b="1">
                <a:solidFill>
                  <a:srgbClr val="353334"/>
                </a:solidFill>
                <a:latin typeface="Fjalla One"/>
              </a:defRPr>
            </a:pPr>
            <a:r>
              <a:t>KEY TECHNICAL DECISION</a:t>
            </a:r>
          </a:p>
          <a:p>
            <a:pPr>
              <a:spcBef>
                <a:spcPts val="300"/>
              </a:spcBef>
              <a:defRPr sz="950">
                <a:solidFill>
                  <a:srgbClr val="3C3C41"/>
                </a:solidFill>
                <a:latin typeface="Mulish"/>
              </a:defRPr>
            </a:pPr>
            <a:r>
              <a:t>Score is computed deterministically; the LLM only extracts and judges in small-schema stages, since large nested schemas get rejected and can't be explained. Stack: FastAPI, Next.js, Supabase, Gemini with Groq and Ollama fallbacks.</a:t>
            </a:r>
          </a:p>
        </p:txBody>
      </p:sp>
      <p:sp>
        <p:nvSpPr>
          <p:cNvPr id="31" name="Rounded Rectangle 30"/>
          <p:cNvSpPr/>
          <p:nvPr/>
        </p:nvSpPr>
        <p:spPr>
          <a:xfrm>
            <a:off x="4864608" y="4892040"/>
            <a:ext cx="2971800" cy="164592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5184648" y="4764024"/>
            <a:ext cx="1600200" cy="256032"/>
          </a:xfrm>
          <a:prstGeom prst="roundRect">
            <a:avLst>
              <a:gd name="adj" fmla="val 50000"/>
            </a:avLst>
          </a:prstGeom>
          <a:solidFill>
            <a:srgbClr val="FD1485"/>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TECH 02</a:t>
            </a:r>
          </a:p>
        </p:txBody>
      </p:sp>
      <p:sp>
        <p:nvSpPr>
          <p:cNvPr id="33" name="TextBox 32"/>
          <p:cNvSpPr txBox="1"/>
          <p:nvPr/>
        </p:nvSpPr>
        <p:spPr>
          <a:xfrm>
            <a:off x="5047488" y="5093208"/>
            <a:ext cx="2606040" cy="1325880"/>
          </a:xfrm>
          <a:prstGeom prst="rect">
            <a:avLst/>
          </a:prstGeom>
          <a:noFill/>
        </p:spPr>
        <p:txBody>
          <a:bodyPr wrap="square">
            <a:spAutoFit/>
          </a:bodyPr>
          <a:lstStyle/>
          <a:p>
            <a:pPr>
              <a:defRPr sz="1100" b="1">
                <a:solidFill>
                  <a:srgbClr val="353334"/>
                </a:solidFill>
                <a:latin typeface="Fjalla One"/>
              </a:defRPr>
            </a:pPr>
            <a:r>
              <a:t>HARDEST PART</a:t>
            </a:r>
          </a:p>
          <a:p>
            <a:pPr>
              <a:spcBef>
                <a:spcPts val="300"/>
              </a:spcBef>
              <a:defRPr sz="950">
                <a:solidFill>
                  <a:srgbClr val="3C3C41"/>
                </a:solidFill>
                <a:latin typeface="Mulish"/>
              </a:defRPr>
            </a:pPr>
            <a:r>
              <a:t>Verifying claims fairly. Detectors scan manifests, file types, configs, authorship share, forks, CI and commit cadence, instead of AI-text detection, which scored only 25–56% on a 2026 resume dataset.</a:t>
            </a:r>
          </a:p>
        </p:txBody>
      </p:sp>
      <p:sp>
        <p:nvSpPr>
          <p:cNvPr id="34" name="Rounded Rectangle 33"/>
          <p:cNvSpPr/>
          <p:nvPr/>
        </p:nvSpPr>
        <p:spPr>
          <a:xfrm>
            <a:off x="8083296" y="4892040"/>
            <a:ext cx="2971800" cy="164592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8403336" y="4764024"/>
            <a:ext cx="1600200" cy="256032"/>
          </a:xfrm>
          <a:prstGeom prst="roundRect">
            <a:avLst>
              <a:gd name="adj" fmla="val 50000"/>
            </a:avLst>
          </a:prstGeom>
          <a:solidFill>
            <a:srgbClr val="079ED2"/>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TECH 03</a:t>
            </a:r>
          </a:p>
        </p:txBody>
      </p:sp>
      <p:sp>
        <p:nvSpPr>
          <p:cNvPr id="36" name="TextBox 35"/>
          <p:cNvSpPr txBox="1"/>
          <p:nvPr/>
        </p:nvSpPr>
        <p:spPr>
          <a:xfrm>
            <a:off x="8266176" y="5093208"/>
            <a:ext cx="2606040" cy="1325880"/>
          </a:xfrm>
          <a:prstGeom prst="rect">
            <a:avLst/>
          </a:prstGeom>
          <a:noFill/>
        </p:spPr>
        <p:txBody>
          <a:bodyPr wrap="square">
            <a:spAutoFit/>
          </a:bodyPr>
          <a:lstStyle/>
          <a:p>
            <a:pPr>
              <a:defRPr sz="1100" b="1">
                <a:solidFill>
                  <a:srgbClr val="353334"/>
                </a:solidFill>
                <a:latin typeface="Fjalla One"/>
              </a:defRPr>
            </a:pPr>
            <a:r>
              <a:t>VALIDATION</a:t>
            </a:r>
          </a:p>
          <a:p>
            <a:pPr>
              <a:spcBef>
                <a:spcPts val="300"/>
              </a:spcBef>
              <a:defRPr sz="950">
                <a:solidFill>
                  <a:srgbClr val="3C3C41"/>
                </a:solidFill>
                <a:latin typeface="Mulish"/>
              </a:defRPr>
            </a:pPr>
            <a:r>
              <a:t>The deterministic score makes results reproducible and testable. The demo runs on synthetic profiles and a seeded cohort; a pilot against VIT placement data is the next step.</a:t>
            </a:r>
          </a:p>
        </p:txBody>
      </p:sp>
      <p:sp>
        <p:nvSpPr>
          <p:cNvPr id="101" name="Pipeline Stage 1"/>
          <p:cNvSpPr/>
          <p:nvPr/>
        </p:nvSpPr>
        <p:spPr>
          <a:xfrm>
            <a:off x="2194560" y="2468880"/>
            <a:ext cx="1737360" cy="640080"/>
          </a:xfrm>
          <a:prstGeom prst="roundRect">
            <a:avLst>
              <a:gd name="adj" fmla="val 8000"/>
            </a:avLst>
          </a:prstGeom>
          <a:solidFill>
            <a:srgbClr val="FFFFFF"/>
          </a:solidFill>
          <a:ln w="19050">
            <a:solidFill>
              <a:srgbClr val="079ED2"/>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353334"/>
                </a:solidFill>
                <a:latin typeface="Fjalla One"/>
              </a:defRPr>
            </a:pPr>
            <a:r>
              <a:t>1 INGEST</a:t>
            </a:r>
          </a:p>
          <a:p>
            <a:pPr algn="ctr">
              <a:defRPr sz="850">
                <a:solidFill>
                  <a:srgbClr val="3C3C41"/>
                </a:solidFill>
                <a:latin typeface="Mulish"/>
              </a:defRPr>
            </a:pPr>
            <a:r>
              <a:t>Resume, LinkedIn PDF, GitHub, links</a:t>
            </a:r>
          </a:p>
        </p:txBody>
      </p:sp>
      <p:sp>
        <p:nvSpPr>
          <p:cNvPr id="102" name="Pipeline Arrow 1"/>
          <p:cNvSpPr txBox="1"/>
          <p:nvPr/>
        </p:nvSpPr>
        <p:spPr>
          <a:xfrm>
            <a:off x="3995928" y="2626040"/>
            <a:ext cx="329184" cy="365760"/>
          </a:xfrm>
          <a:prstGeom prst="rect">
            <a:avLst/>
          </a:prstGeom>
          <a:noFill/>
        </p:spPr>
        <p:txBody>
          <a:bodyPr wrap="none" lIns="0" tIns="0" rIns="0" bIns="0">
            <a:spAutoFit/>
          </a:bodyPr>
          <a:lstStyle/>
          <a:p>
            <a:pPr algn="ctr">
              <a:defRPr sz="1800" b="1">
                <a:solidFill>
                  <a:srgbClr val="353334"/>
                </a:solidFill>
                <a:latin typeface="Mulish"/>
              </a:defRPr>
            </a:pPr>
            <a:r>
              <a:t>➔</a:t>
            </a:r>
          </a:p>
        </p:txBody>
      </p:sp>
      <p:sp>
        <p:nvSpPr>
          <p:cNvPr id="103" name="Pipeline Stage 2"/>
          <p:cNvSpPr/>
          <p:nvPr/>
        </p:nvSpPr>
        <p:spPr>
          <a:xfrm>
            <a:off x="4389120" y="2468880"/>
            <a:ext cx="1737360" cy="640080"/>
          </a:xfrm>
          <a:prstGeom prst="roundRect">
            <a:avLst>
              <a:gd name="adj" fmla="val 8000"/>
            </a:avLst>
          </a:prstGeom>
          <a:solidFill>
            <a:srgbClr val="FFFFFF"/>
          </a:solidFill>
          <a:ln w="19050">
            <a:solidFill>
              <a:srgbClr val="FFB903"/>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353334"/>
                </a:solidFill>
                <a:latin typeface="Fjalla One"/>
              </a:defRPr>
            </a:pPr>
            <a:r>
              <a:t>2 EXTRACT</a:t>
            </a:r>
          </a:p>
          <a:p>
            <a:pPr algn="ctr">
              <a:defRPr sz="850">
                <a:solidFill>
                  <a:srgbClr val="3C3C41"/>
                </a:solidFill>
                <a:latin typeface="Mulish"/>
              </a:defRPr>
            </a:pPr>
            <a:r>
              <a:t>LLM builds a small ResumeProfile JSON</a:t>
            </a:r>
          </a:p>
        </p:txBody>
      </p:sp>
      <p:sp>
        <p:nvSpPr>
          <p:cNvPr id="104" name="Pipeline Arrow 2"/>
          <p:cNvSpPr txBox="1"/>
          <p:nvPr/>
        </p:nvSpPr>
        <p:spPr>
          <a:xfrm>
            <a:off x="6190488" y="2626040"/>
            <a:ext cx="329184" cy="365760"/>
          </a:xfrm>
          <a:prstGeom prst="rect">
            <a:avLst/>
          </a:prstGeom>
          <a:noFill/>
        </p:spPr>
        <p:txBody>
          <a:bodyPr wrap="none" lIns="0" tIns="0" rIns="0" bIns="0">
            <a:spAutoFit/>
          </a:bodyPr>
          <a:lstStyle/>
          <a:p>
            <a:pPr algn="ctr">
              <a:defRPr sz="1800" b="1">
                <a:solidFill>
                  <a:srgbClr val="353334"/>
                </a:solidFill>
                <a:latin typeface="Mulish"/>
              </a:defRPr>
            </a:pPr>
            <a:r>
              <a:t>➔</a:t>
            </a:r>
          </a:p>
        </p:txBody>
      </p:sp>
      <p:sp>
        <p:nvSpPr>
          <p:cNvPr id="105" name="Pipeline Stage 3"/>
          <p:cNvSpPr/>
          <p:nvPr/>
        </p:nvSpPr>
        <p:spPr>
          <a:xfrm>
            <a:off x="6583680" y="2468880"/>
            <a:ext cx="1737360" cy="640080"/>
          </a:xfrm>
          <a:prstGeom prst="roundRect">
            <a:avLst>
              <a:gd name="adj" fmla="val 8000"/>
            </a:avLst>
          </a:prstGeom>
          <a:solidFill>
            <a:srgbClr val="FFFFFF"/>
          </a:solidFill>
          <a:ln w="19050">
            <a:solidFill>
              <a:srgbClr val="FD1485"/>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353334"/>
                </a:solidFill>
                <a:latin typeface="Fjalla One"/>
              </a:defRPr>
            </a:pPr>
            <a:r>
              <a:t>3 COLLECT</a:t>
            </a:r>
          </a:p>
          <a:p>
            <a:pPr algn="ctr">
              <a:defRPr sz="850">
                <a:solidFill>
                  <a:srgbClr val="3C3C41"/>
                </a:solidFill>
                <a:latin typeface="Mulish"/>
              </a:defRPr>
            </a:pPr>
            <a:r>
              <a:t>GitHub GraphQL: repos, calendar, manifests</a:t>
            </a:r>
          </a:p>
        </p:txBody>
      </p:sp>
      <p:sp>
        <p:nvSpPr>
          <p:cNvPr id="106" name="Pipeline Arrow 3"/>
          <p:cNvSpPr txBox="1"/>
          <p:nvPr/>
        </p:nvSpPr>
        <p:spPr>
          <a:xfrm>
            <a:off x="8385048" y="2626040"/>
            <a:ext cx="329184" cy="365760"/>
          </a:xfrm>
          <a:prstGeom prst="rect">
            <a:avLst/>
          </a:prstGeom>
          <a:noFill/>
        </p:spPr>
        <p:txBody>
          <a:bodyPr wrap="none" lIns="0" tIns="0" rIns="0" bIns="0">
            <a:spAutoFit/>
          </a:bodyPr>
          <a:lstStyle/>
          <a:p>
            <a:pPr algn="ctr">
              <a:defRPr sz="1800" b="1">
                <a:solidFill>
                  <a:srgbClr val="353334"/>
                </a:solidFill>
                <a:latin typeface="Mulish"/>
              </a:defRPr>
            </a:pPr>
            <a:r>
              <a:t>➔</a:t>
            </a:r>
          </a:p>
        </p:txBody>
      </p:sp>
      <p:sp>
        <p:nvSpPr>
          <p:cNvPr id="107" name="Pipeline Stage 4"/>
          <p:cNvSpPr/>
          <p:nvPr/>
        </p:nvSpPr>
        <p:spPr>
          <a:xfrm>
            <a:off x="8778240" y="2468880"/>
            <a:ext cx="1737360" cy="640080"/>
          </a:xfrm>
          <a:prstGeom prst="roundRect">
            <a:avLst>
              <a:gd name="adj" fmla="val 80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353334"/>
                </a:solidFill>
                <a:latin typeface="Fjalla One"/>
              </a:defRPr>
            </a:pPr>
            <a:r>
              <a:t>4 DETECT</a:t>
            </a:r>
          </a:p>
          <a:p>
            <a:pPr algn="ctr">
              <a:defRPr sz="850">
                <a:solidFill>
                  <a:srgbClr val="3C3C41"/>
                </a:solidFill>
                <a:latin typeface="Mulish"/>
              </a:defRPr>
            </a:pPr>
            <a:r>
              <a:t>Skill + repo-quality detectors (no LLM)</a:t>
            </a:r>
          </a:p>
        </p:txBody>
      </p:sp>
      <p:sp>
        <p:nvSpPr>
          <p:cNvPr id="108" name="Pipeline Stage 5"/>
          <p:cNvSpPr/>
          <p:nvPr/>
        </p:nvSpPr>
        <p:spPr>
          <a:xfrm>
            <a:off x="8778240" y="3474720"/>
            <a:ext cx="1737360" cy="640080"/>
          </a:xfrm>
          <a:prstGeom prst="roundRect">
            <a:avLst>
              <a:gd name="adj" fmla="val 8000"/>
            </a:avLst>
          </a:prstGeom>
          <a:solidFill>
            <a:srgbClr val="FFFFFF"/>
          </a:solidFill>
          <a:ln w="19050">
            <a:solidFill>
              <a:srgbClr val="079ED2"/>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353334"/>
                </a:solidFill>
                <a:latin typeface="Fjalla One"/>
              </a:defRPr>
            </a:pPr>
            <a:r>
              <a:t>5 JUDGE</a:t>
            </a:r>
          </a:p>
          <a:p>
            <a:pPr algn="ctr">
              <a:defRPr sz="850">
                <a:solidFill>
                  <a:srgbClr val="3C3C41"/>
                </a:solidFill>
                <a:latin typeface="Mulish"/>
              </a:defRPr>
            </a:pPr>
            <a:r>
              <a:t>LLM checks descriptions vs evidence</a:t>
            </a:r>
          </a:p>
        </p:txBody>
      </p:sp>
      <p:sp>
        <p:nvSpPr>
          <p:cNvPr id="109" name="Pipeline Arrow 5"/>
          <p:cNvSpPr txBox="1"/>
          <p:nvPr/>
        </p:nvSpPr>
        <p:spPr>
          <a:xfrm rot="10800000">
            <a:off x="8385048" y="3631880"/>
            <a:ext cx="329184" cy="365760"/>
          </a:xfrm>
          <a:prstGeom prst="rect">
            <a:avLst/>
          </a:prstGeom>
          <a:noFill/>
        </p:spPr>
        <p:txBody>
          <a:bodyPr wrap="none" lIns="0" tIns="0" rIns="0" bIns="0">
            <a:spAutoFit/>
          </a:bodyPr>
          <a:lstStyle/>
          <a:p>
            <a:pPr algn="ctr">
              <a:defRPr sz="1800" b="1">
                <a:solidFill>
                  <a:srgbClr val="353334"/>
                </a:solidFill>
                <a:latin typeface="Mulish"/>
              </a:defRPr>
            </a:pPr>
            <a:r>
              <a:t>➔</a:t>
            </a:r>
          </a:p>
        </p:txBody>
      </p:sp>
      <p:sp>
        <p:nvSpPr>
          <p:cNvPr id="110" name="Pipeline Stage 6"/>
          <p:cNvSpPr/>
          <p:nvPr/>
        </p:nvSpPr>
        <p:spPr>
          <a:xfrm>
            <a:off x="6583680" y="3474720"/>
            <a:ext cx="1737360" cy="640080"/>
          </a:xfrm>
          <a:prstGeom prst="roundRect">
            <a:avLst>
              <a:gd name="adj" fmla="val 8000"/>
            </a:avLst>
          </a:prstGeom>
          <a:solidFill>
            <a:srgbClr val="FFFFFF"/>
          </a:solidFill>
          <a:ln w="19050">
            <a:solidFill>
              <a:srgbClr val="FFB903"/>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353334"/>
                </a:solidFill>
                <a:latin typeface="Fjalla One"/>
              </a:defRPr>
            </a:pPr>
            <a:r>
              <a:t>6 SCORE</a:t>
            </a:r>
          </a:p>
          <a:p>
            <a:pPr algn="ctr">
              <a:defRPr sz="850">
                <a:solidFill>
                  <a:srgbClr val="3C3C41"/>
                </a:solidFill>
                <a:latin typeface="Mulish"/>
              </a:defRPr>
            </a:pPr>
            <a:r>
              <a:t>Deterministic Job Readiness Score</a:t>
            </a:r>
          </a:p>
        </p:txBody>
      </p:sp>
      <p:sp>
        <p:nvSpPr>
          <p:cNvPr id="111" name="Pipeline Arrow 6"/>
          <p:cNvSpPr txBox="1"/>
          <p:nvPr/>
        </p:nvSpPr>
        <p:spPr>
          <a:xfrm rot="10800000">
            <a:off x="6190488" y="3631880"/>
            <a:ext cx="329184" cy="365760"/>
          </a:xfrm>
          <a:prstGeom prst="rect">
            <a:avLst/>
          </a:prstGeom>
          <a:noFill/>
        </p:spPr>
        <p:txBody>
          <a:bodyPr wrap="none" lIns="0" tIns="0" rIns="0" bIns="0">
            <a:spAutoFit/>
          </a:bodyPr>
          <a:lstStyle/>
          <a:p>
            <a:pPr algn="ctr">
              <a:defRPr sz="1800" b="1">
                <a:solidFill>
                  <a:srgbClr val="353334"/>
                </a:solidFill>
                <a:latin typeface="Mulish"/>
              </a:defRPr>
            </a:pPr>
            <a:r>
              <a:t>➔</a:t>
            </a:r>
          </a:p>
        </p:txBody>
      </p:sp>
      <p:sp>
        <p:nvSpPr>
          <p:cNvPr id="112" name="Pipeline Stage 7"/>
          <p:cNvSpPr/>
          <p:nvPr/>
        </p:nvSpPr>
        <p:spPr>
          <a:xfrm>
            <a:off x="4389120" y="3474720"/>
            <a:ext cx="1737360" cy="640080"/>
          </a:xfrm>
          <a:prstGeom prst="roundRect">
            <a:avLst>
              <a:gd name="adj" fmla="val 8000"/>
            </a:avLst>
          </a:prstGeom>
          <a:solidFill>
            <a:srgbClr val="FFFFFF"/>
          </a:solidFill>
          <a:ln w="19050">
            <a:solidFill>
              <a:srgbClr val="FD1485"/>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353334"/>
                </a:solidFill>
                <a:latin typeface="Fjalla One"/>
              </a:defRPr>
            </a:pPr>
            <a:r>
              <a:t>7 PLAN</a:t>
            </a:r>
          </a:p>
          <a:p>
            <a:pPr algn="ctr">
              <a:defRPr sz="850">
                <a:solidFill>
                  <a:srgbClr val="3C3C41"/>
                </a:solidFill>
                <a:latin typeface="Mulish"/>
              </a:defRPr>
            </a:pPr>
            <a:r>
              <a:t>Roadmap from curated catalogues</a:t>
            </a:r>
          </a:p>
        </p:txBody>
      </p:sp>
      <p:sp>
        <p:nvSpPr>
          <p:cNvPr id="113" name="Pipeline Arrow 7"/>
          <p:cNvSpPr txBox="1"/>
          <p:nvPr/>
        </p:nvSpPr>
        <p:spPr>
          <a:xfrm rot="10800000">
            <a:off x="3995928" y="3631880"/>
            <a:ext cx="329184" cy="365760"/>
          </a:xfrm>
          <a:prstGeom prst="rect">
            <a:avLst/>
          </a:prstGeom>
          <a:noFill/>
        </p:spPr>
        <p:txBody>
          <a:bodyPr wrap="none" lIns="0" tIns="0" rIns="0" bIns="0">
            <a:spAutoFit/>
          </a:bodyPr>
          <a:lstStyle/>
          <a:p>
            <a:pPr algn="ctr">
              <a:defRPr sz="1800" b="1">
                <a:solidFill>
                  <a:srgbClr val="353334"/>
                </a:solidFill>
                <a:latin typeface="Mulish"/>
              </a:defRPr>
            </a:pPr>
            <a:r>
              <a:t>➔</a:t>
            </a:r>
          </a:p>
        </p:txBody>
      </p:sp>
      <p:sp>
        <p:nvSpPr>
          <p:cNvPr id="114" name="Pipeline Stage 8"/>
          <p:cNvSpPr/>
          <p:nvPr/>
        </p:nvSpPr>
        <p:spPr>
          <a:xfrm>
            <a:off x="2194560" y="3474720"/>
            <a:ext cx="1737360" cy="640080"/>
          </a:xfrm>
          <a:prstGeom prst="roundRect">
            <a:avLst>
              <a:gd name="adj" fmla="val 80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353334"/>
                </a:solidFill>
                <a:latin typeface="Fjalla One"/>
              </a:defRPr>
            </a:pPr>
            <a:r>
              <a:t>8 PERSIST</a:t>
            </a:r>
          </a:p>
          <a:p>
            <a:pPr algn="ctr">
              <a:defRPr sz="850">
                <a:solidFill>
                  <a:srgbClr val="3C3C41"/>
                </a:solidFill>
                <a:latin typeface="Mulish"/>
              </a:defRPr>
            </a:pPr>
            <a:r>
              <a:t>Supabase Postgres + call cache</a:t>
            </a:r>
          </a:p>
        </p:txBody>
      </p:sp>
      <p:sp>
        <p:nvSpPr>
          <p:cNvPr id="115" name="Pipeline Wrap"/>
          <p:cNvSpPr txBox="1"/>
          <p:nvPr/>
        </p:nvSpPr>
        <p:spPr>
          <a:xfrm rot="5400000">
            <a:off x="9482328" y="3138960"/>
            <a:ext cx="329184" cy="300000"/>
          </a:xfrm>
          <a:prstGeom prst="rect">
            <a:avLst/>
          </a:prstGeom>
          <a:noFill/>
        </p:spPr>
        <p:txBody>
          <a:bodyPr wrap="none" lIns="0" tIns="0" rIns="0" bIns="0">
            <a:spAutoFit/>
          </a:bodyPr>
          <a:lstStyle/>
          <a:p>
            <a:pPr algn="ctr">
              <a:defRPr sz="1800" b="1">
                <a:solidFill>
                  <a:srgbClr val="353334"/>
                </a:solidFill>
                <a:latin typeface="Mulish"/>
              </a:defRPr>
            </a:pPr>
            <a: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82880" y="1051560"/>
            <a:ext cx="1051560" cy="329184"/>
          </a:xfrm>
          <a:prstGeom prst="roundRect">
            <a:avLst>
              <a:gd name="adj" fmla="val 50000"/>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82880" y="1453896"/>
            <a:ext cx="1463040" cy="329184"/>
          </a:xfrm>
          <a:prstGeom prst="roundRect">
            <a:avLst>
              <a:gd name="adj" fmla="val 50000"/>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82880" y="1856232"/>
            <a:ext cx="1051560" cy="329184"/>
          </a:xfrm>
          <a:prstGeom prst="roundRect">
            <a:avLst>
              <a:gd name="adj" fmla="val 50000"/>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0" y="5486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521440" y="7132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521440" y="8778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521440" y="10424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55778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57424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59070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60716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087100" y="5934075"/>
            <a:ext cx="32004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237595" y="5783580"/>
            <a:ext cx="19050" cy="32004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192256" y="5888736"/>
            <a:ext cx="109728" cy="109728"/>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rc 16"/>
          <p:cNvSpPr/>
          <p:nvPr/>
        </p:nvSpPr>
        <p:spPr>
          <a:xfrm>
            <a:off x="8412480" y="640080"/>
            <a:ext cx="1005840" cy="822960"/>
          </a:xfrm>
          <a:prstGeom prst="arc">
            <a:avLst/>
          </a:prstGeom>
          <a:noFill/>
          <a:ln w="19050">
            <a:solidFill>
              <a:srgbClr val="079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371332" y="101041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77172" y="59893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45920" y="384048"/>
            <a:ext cx="8229600" cy="274320"/>
          </a:xfrm>
          <a:prstGeom prst="rect">
            <a:avLst/>
          </a:prstGeom>
          <a:noFill/>
        </p:spPr>
        <p:txBody>
          <a:bodyPr wrap="none" lIns="0" tIns="0" rIns="0" bIns="0">
            <a:spAutoFit/>
          </a:bodyPr>
          <a:lstStyle/>
          <a:p>
            <a:pPr>
              <a:defRPr sz="1050" b="1">
                <a:solidFill>
                  <a:srgbClr val="353334"/>
                </a:solidFill>
                <a:latin typeface="Mulish"/>
              </a:defRPr>
            </a:pPr>
            <a:r>
              <a:t>DATAQUEST 3.0  ·  ROUND 1</a:t>
            </a:r>
          </a:p>
        </p:txBody>
      </p:sp>
      <p:sp>
        <p:nvSpPr>
          <p:cNvPr id="21" name="TextBox 20"/>
          <p:cNvSpPr txBox="1"/>
          <p:nvPr/>
        </p:nvSpPr>
        <p:spPr>
          <a:xfrm>
            <a:off x="1645920" y="621792"/>
            <a:ext cx="9144000" cy="777240"/>
          </a:xfrm>
          <a:prstGeom prst="rect">
            <a:avLst/>
          </a:prstGeom>
          <a:noFill/>
        </p:spPr>
        <p:txBody>
          <a:bodyPr wrap="square" lIns="0" tIns="0" rIns="0" bIns="0">
            <a:spAutoFit/>
          </a:bodyPr>
          <a:lstStyle/>
          <a:p>
            <a:r>
              <a:rPr sz="3600" b="1">
                <a:solidFill>
                  <a:srgbClr val="FD1485"/>
                </a:solidFill>
                <a:latin typeface="Fjalla One"/>
              </a:rPr>
              <a:t>05  </a:t>
            </a:r>
            <a:r>
              <a:rPr sz="3200" b="1">
                <a:solidFill>
                  <a:srgbClr val="353334"/>
                </a:solidFill>
                <a:latin typeface="Fjalla One"/>
              </a:rPr>
              <a:t>Feasibility &amp; Scope</a:t>
            </a:r>
          </a:p>
        </p:txBody>
      </p:sp>
      <p:sp>
        <p:nvSpPr>
          <p:cNvPr id="22" name="Rectangle 21"/>
          <p:cNvSpPr/>
          <p:nvPr/>
        </p:nvSpPr>
        <p:spPr>
          <a:xfrm>
            <a:off x="1645920" y="1444752"/>
            <a:ext cx="941832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 y="1517904"/>
            <a:ext cx="9418320" cy="320040"/>
          </a:xfrm>
          <a:prstGeom prst="rect">
            <a:avLst/>
          </a:prstGeom>
          <a:noFill/>
        </p:spPr>
        <p:txBody>
          <a:bodyPr wrap="none" lIns="0" tIns="0" rIns="0" bIns="0">
            <a:spAutoFit/>
          </a:bodyPr>
          <a:lstStyle/>
          <a:p>
            <a:pPr>
              <a:defRPr sz="1100">
                <a:solidFill>
                  <a:srgbClr val="6E6E73"/>
                </a:solidFill>
                <a:latin typeface="Mulish"/>
              </a:defRPr>
            </a:pPr>
            <a:r>
              <a:t>Concrete boundaries · Operational run rate · Risk mitigation · Post-hackathon plans</a:t>
            </a:r>
          </a:p>
        </p:txBody>
      </p:sp>
      <p:sp>
        <p:nvSpPr>
          <p:cNvPr id="24" name="Rounded Rectangle 23"/>
          <p:cNvSpPr/>
          <p:nvPr/>
        </p:nvSpPr>
        <p:spPr>
          <a:xfrm>
            <a:off x="1645920" y="2057400"/>
            <a:ext cx="4572000" cy="21488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965960" y="1929384"/>
            <a:ext cx="1600200" cy="256032"/>
          </a:xfrm>
          <a:prstGeom prst="roundRect">
            <a:avLst>
              <a:gd name="adj" fmla="val 50000"/>
            </a:avLst>
          </a:prstGeom>
          <a:solidFill>
            <a:srgbClr val="079ED2"/>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01 · BOUNDARIES</a:t>
            </a:r>
          </a:p>
        </p:txBody>
      </p:sp>
      <p:sp>
        <p:nvSpPr>
          <p:cNvPr id="26" name="TextBox 25"/>
          <p:cNvSpPr txBox="1"/>
          <p:nvPr/>
        </p:nvSpPr>
        <p:spPr>
          <a:xfrm>
            <a:off x="1920240" y="2313432"/>
            <a:ext cx="4023360" cy="1737360"/>
          </a:xfrm>
          <a:prstGeom prst="rect">
            <a:avLst/>
          </a:prstGeom>
          <a:noFill/>
        </p:spPr>
        <p:txBody>
          <a:bodyPr wrap="square">
            <a:spAutoFit/>
          </a:bodyPr>
          <a:lstStyle/>
          <a:p>
            <a:pPr>
              <a:defRPr sz="1300" b="1">
                <a:solidFill>
                  <a:srgbClr val="353334"/>
                </a:solidFill>
                <a:latin typeface="Fjalla One"/>
              </a:defRPr>
            </a:pPr>
            <a:r>
              <a:t>1. SCOPE</a:t>
            </a:r>
          </a:p>
          <a:p>
            <a:pPr>
              <a:spcBef>
                <a:spcPts val="400"/>
              </a:spcBef>
              <a:defRPr sz="1000">
                <a:solidFill>
                  <a:srgbClr val="3C3C41"/>
                </a:solidFill>
                <a:latin typeface="Mulish"/>
              </a:defRPr>
            </a:pPr>
            <a:r>
              <a:t>In: ingestion, evidence engine, claim verification, readiness score, gap report, roadmap, role-fit, cohort insights.</a:t>
            </a:r>
            <a:br/>
            <a:br/>
            <a:r>
              <a:t>Out: auto-apply, AI-written-text detection, LinkedIn page scraping.</a:t>
            </a:r>
          </a:p>
        </p:txBody>
      </p:sp>
      <p:sp>
        <p:nvSpPr>
          <p:cNvPr id="27" name="Rounded Rectangle 26"/>
          <p:cNvSpPr/>
          <p:nvPr/>
        </p:nvSpPr>
        <p:spPr>
          <a:xfrm>
            <a:off x="6492240" y="2057400"/>
            <a:ext cx="4572000" cy="21488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812280" y="1929384"/>
            <a:ext cx="1600200" cy="256032"/>
          </a:xfrm>
          <a:prstGeom prst="roundRect">
            <a:avLst>
              <a:gd name="adj" fmla="val 50000"/>
            </a:avLst>
          </a:prstGeom>
          <a:solidFill>
            <a:srgbClr val="FFB903"/>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353334"/>
                </a:solidFill>
                <a:latin typeface="Mulish"/>
              </a:defRPr>
            </a:pPr>
            <a:r>
              <a:t>02 · ECONOMICS</a:t>
            </a:r>
          </a:p>
        </p:txBody>
      </p:sp>
      <p:sp>
        <p:nvSpPr>
          <p:cNvPr id="29" name="TextBox 28"/>
          <p:cNvSpPr txBox="1"/>
          <p:nvPr/>
        </p:nvSpPr>
        <p:spPr>
          <a:xfrm>
            <a:off x="6766560" y="2313432"/>
            <a:ext cx="4023360" cy="1737360"/>
          </a:xfrm>
          <a:prstGeom prst="rect">
            <a:avLst/>
          </a:prstGeom>
          <a:noFill/>
        </p:spPr>
        <p:txBody>
          <a:bodyPr wrap="square">
            <a:spAutoFit/>
          </a:bodyPr>
          <a:lstStyle/>
          <a:p>
            <a:pPr>
              <a:defRPr sz="1300" b="1">
                <a:solidFill>
                  <a:srgbClr val="353334"/>
                </a:solidFill>
                <a:latin typeface="Fjalla One"/>
              </a:defRPr>
            </a:pPr>
            <a:r>
              <a:t>2. RUNNING COST</a:t>
            </a:r>
          </a:p>
          <a:p>
            <a:pPr>
              <a:spcBef>
                <a:spcPts val="400"/>
              </a:spcBef>
              <a:defRPr sz="1000">
                <a:solidFill>
                  <a:srgbClr val="3C3C41"/>
                </a:solidFill>
                <a:latin typeface="Mulish"/>
              </a:defRPr>
            </a:pPr>
            <a:r>
              <a:t>Zero-cost stack: Vercel Hobby, Render free, Supabase Free, Gemini and Groq free tiers, Ollama offline.</a:t>
            </a:r>
            <a:br/>
            <a:r>
              <a:t>Estimated monthly spend: ₹0. GitHub GraphQL via a token (5,000 req/hr).</a:t>
            </a:r>
          </a:p>
        </p:txBody>
      </p:sp>
      <p:sp>
        <p:nvSpPr>
          <p:cNvPr id="30" name="Rounded Rectangle 29"/>
          <p:cNvSpPr/>
          <p:nvPr/>
        </p:nvSpPr>
        <p:spPr>
          <a:xfrm>
            <a:off x="1645920" y="4389120"/>
            <a:ext cx="4572000" cy="21488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1965960" y="4261104"/>
            <a:ext cx="1600200" cy="256032"/>
          </a:xfrm>
          <a:prstGeom prst="roundRect">
            <a:avLst>
              <a:gd name="adj" fmla="val 50000"/>
            </a:avLst>
          </a:prstGeom>
          <a:solidFill>
            <a:srgbClr val="FD1485"/>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03 · CONTINGENCY</a:t>
            </a:r>
          </a:p>
        </p:txBody>
      </p:sp>
      <p:sp>
        <p:nvSpPr>
          <p:cNvPr id="32" name="TextBox 31"/>
          <p:cNvSpPr txBox="1"/>
          <p:nvPr/>
        </p:nvSpPr>
        <p:spPr>
          <a:xfrm>
            <a:off x="1920240" y="4645152"/>
            <a:ext cx="4023360" cy="1737360"/>
          </a:xfrm>
          <a:prstGeom prst="rect">
            <a:avLst/>
          </a:prstGeom>
          <a:noFill/>
        </p:spPr>
        <p:txBody>
          <a:bodyPr wrap="square">
            <a:spAutoFit/>
          </a:bodyPr>
          <a:lstStyle/>
          <a:p>
            <a:pPr>
              <a:defRPr sz="1300" b="1">
                <a:solidFill>
                  <a:srgbClr val="353334"/>
                </a:solidFill>
                <a:latin typeface="Fjalla One"/>
              </a:defRPr>
            </a:pPr>
            <a:r>
              <a:t>3. RISKS &amp; FALLBACK</a:t>
            </a:r>
          </a:p>
          <a:p>
            <a:pPr>
              <a:spcBef>
                <a:spcPts val="400"/>
              </a:spcBef>
              <a:defRPr sz="1000">
                <a:solidFill>
                  <a:srgbClr val="3C3C41"/>
                </a:solidFill>
                <a:latin typeface="Mulish"/>
              </a:defRPr>
            </a:pPr>
            <a:r>
              <a:t>Gemini 429 limits fall back to Groq, then local Ollama. Render sleeps after 15 min idle, so /health is hit before judging.</a:t>
            </a:r>
            <a:br/>
            <a:r>
              <a:t>Supabase pauses after ~7 idle days; a daily GitHub Actions ping keeps it awake.</a:t>
            </a:r>
          </a:p>
        </p:txBody>
      </p:sp>
      <p:sp>
        <p:nvSpPr>
          <p:cNvPr id="33" name="Rounded Rectangle 32"/>
          <p:cNvSpPr/>
          <p:nvPr/>
        </p:nvSpPr>
        <p:spPr>
          <a:xfrm>
            <a:off x="6492240" y="4389120"/>
            <a:ext cx="4572000" cy="21488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6812280" y="4261104"/>
            <a:ext cx="1600200" cy="256032"/>
          </a:xfrm>
          <a:prstGeom prst="roundRect">
            <a:avLst>
              <a:gd name="adj" fmla="val 50000"/>
            </a:avLst>
          </a:prstGeom>
          <a:solidFill>
            <a:srgbClr val="353334"/>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04 · HORIZON</a:t>
            </a:r>
          </a:p>
        </p:txBody>
      </p:sp>
      <p:sp>
        <p:nvSpPr>
          <p:cNvPr id="35" name="TextBox 34"/>
          <p:cNvSpPr txBox="1"/>
          <p:nvPr/>
        </p:nvSpPr>
        <p:spPr>
          <a:xfrm>
            <a:off x="6766560" y="4645152"/>
            <a:ext cx="4023360" cy="1737360"/>
          </a:xfrm>
          <a:prstGeom prst="rect">
            <a:avLst/>
          </a:prstGeom>
          <a:noFill/>
        </p:spPr>
        <p:txBody>
          <a:bodyPr wrap="square">
            <a:spAutoFit/>
          </a:bodyPr>
          <a:lstStyle/>
          <a:p>
            <a:pPr>
              <a:defRPr sz="1300" b="1">
                <a:solidFill>
                  <a:srgbClr val="353334"/>
                </a:solidFill>
                <a:latin typeface="Fjalla One"/>
              </a:defRPr>
            </a:pPr>
            <a:r>
              <a:t>4. AFTER THE HACKATHON</a:t>
            </a:r>
          </a:p>
          <a:p>
            <a:pPr>
              <a:spcBef>
                <a:spcPts val="400"/>
              </a:spcBef>
              <a:defRPr sz="1000">
                <a:solidFill>
                  <a:srgbClr val="3C3C41"/>
                </a:solidFill>
                <a:latin typeface="Mulish"/>
              </a:defRPr>
            </a:pPr>
            <a:r>
              <a:t>Ship the Chrome extension side panel, what-if simulator, progress history, interview prep and truthful tailored resumes. Then pilot against VIT placement data to test whether the score predicts outcomes.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82880" y="1051560"/>
            <a:ext cx="1051560" cy="329184"/>
          </a:xfrm>
          <a:prstGeom prst="roundRect">
            <a:avLst>
              <a:gd name="adj" fmla="val 50000"/>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82880" y="1453896"/>
            <a:ext cx="1463040" cy="329184"/>
          </a:xfrm>
          <a:prstGeom prst="roundRect">
            <a:avLst>
              <a:gd name="adj" fmla="val 50000"/>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82880" y="1856232"/>
            <a:ext cx="1051560" cy="329184"/>
          </a:xfrm>
          <a:prstGeom prst="roundRect">
            <a:avLst>
              <a:gd name="adj" fmla="val 50000"/>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0" y="5486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521440" y="7132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521440" y="8778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521440" y="10424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55778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57424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59070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60716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087100" y="5934075"/>
            <a:ext cx="32004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237595" y="5783580"/>
            <a:ext cx="19050" cy="32004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192256" y="5888736"/>
            <a:ext cx="109728" cy="109728"/>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rc 16"/>
          <p:cNvSpPr/>
          <p:nvPr/>
        </p:nvSpPr>
        <p:spPr>
          <a:xfrm>
            <a:off x="8412480" y="640080"/>
            <a:ext cx="1005840" cy="822960"/>
          </a:xfrm>
          <a:prstGeom prst="arc">
            <a:avLst/>
          </a:prstGeom>
          <a:noFill/>
          <a:ln w="19050">
            <a:solidFill>
              <a:srgbClr val="079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371332" y="101041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77172" y="59893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45920" y="384048"/>
            <a:ext cx="8229600" cy="274320"/>
          </a:xfrm>
          <a:prstGeom prst="rect">
            <a:avLst/>
          </a:prstGeom>
          <a:noFill/>
        </p:spPr>
        <p:txBody>
          <a:bodyPr wrap="none" lIns="0" tIns="0" rIns="0" bIns="0">
            <a:spAutoFit/>
          </a:bodyPr>
          <a:lstStyle/>
          <a:p>
            <a:pPr>
              <a:defRPr sz="1050" b="1">
                <a:solidFill>
                  <a:srgbClr val="353334"/>
                </a:solidFill>
                <a:latin typeface="Mulish"/>
              </a:defRPr>
            </a:pPr>
            <a:r>
              <a:t>DATAQUEST 3.0  ·  ROUND 1</a:t>
            </a:r>
          </a:p>
        </p:txBody>
      </p:sp>
      <p:sp>
        <p:nvSpPr>
          <p:cNvPr id="21" name="TextBox 20"/>
          <p:cNvSpPr txBox="1"/>
          <p:nvPr/>
        </p:nvSpPr>
        <p:spPr>
          <a:xfrm>
            <a:off x="1645920" y="621792"/>
            <a:ext cx="9144000" cy="777240"/>
          </a:xfrm>
          <a:prstGeom prst="rect">
            <a:avLst/>
          </a:prstGeom>
          <a:noFill/>
        </p:spPr>
        <p:txBody>
          <a:bodyPr wrap="square" lIns="0" tIns="0" rIns="0" bIns="0">
            <a:spAutoFit/>
          </a:bodyPr>
          <a:lstStyle/>
          <a:p>
            <a:r>
              <a:rPr sz="3600" b="1">
                <a:solidFill>
                  <a:srgbClr val="FD1485"/>
                </a:solidFill>
                <a:latin typeface="Fjalla One"/>
              </a:rPr>
              <a:t>06  </a:t>
            </a:r>
            <a:r>
              <a:rPr sz="3200" b="1">
                <a:solidFill>
                  <a:srgbClr val="353334"/>
                </a:solidFill>
                <a:latin typeface="Fjalla One"/>
              </a:rPr>
              <a:t>Impact &amp; Metrics</a:t>
            </a:r>
          </a:p>
        </p:txBody>
      </p:sp>
      <p:sp>
        <p:nvSpPr>
          <p:cNvPr id="22" name="Rectangle 21"/>
          <p:cNvSpPr/>
          <p:nvPr/>
        </p:nvSpPr>
        <p:spPr>
          <a:xfrm>
            <a:off x="1645920" y="1444752"/>
            <a:ext cx="941832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 y="1517904"/>
            <a:ext cx="9418320" cy="320040"/>
          </a:xfrm>
          <a:prstGeom prst="rect">
            <a:avLst/>
          </a:prstGeom>
          <a:noFill/>
        </p:spPr>
        <p:txBody>
          <a:bodyPr wrap="none" lIns="0" tIns="0" rIns="0" bIns="0">
            <a:spAutoFit/>
          </a:bodyPr>
          <a:lstStyle/>
          <a:p>
            <a:pPr>
              <a:defRPr sz="1100">
                <a:solidFill>
                  <a:srgbClr val="6E6E73"/>
                </a:solidFill>
                <a:latin typeface="Mulish"/>
              </a:defRPr>
            </a:pPr>
            <a:r>
              <a:t>Primary measurable impact · Transparent calculation · Stakeholder advantages</a:t>
            </a:r>
          </a:p>
        </p:txBody>
      </p:sp>
      <p:sp>
        <p:nvSpPr>
          <p:cNvPr id="24" name="Rounded Rectangle 23"/>
          <p:cNvSpPr/>
          <p:nvPr/>
        </p:nvSpPr>
        <p:spPr>
          <a:xfrm>
            <a:off x="1645920" y="2011680"/>
            <a:ext cx="9418320" cy="182880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965960" y="1883664"/>
            <a:ext cx="1600200" cy="256032"/>
          </a:xfrm>
          <a:prstGeom prst="roundRect">
            <a:avLst>
              <a:gd name="adj" fmla="val 50000"/>
            </a:avLst>
          </a:prstGeom>
          <a:solidFill>
            <a:srgbClr val="FD1485"/>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PRIMARY METRIC</a:t>
            </a:r>
          </a:p>
        </p:txBody>
      </p:sp>
      <p:sp>
        <p:nvSpPr>
          <p:cNvPr id="26" name="TextBox 25"/>
          <p:cNvSpPr txBox="1"/>
          <p:nvPr/>
        </p:nvSpPr>
        <p:spPr>
          <a:xfrm>
            <a:off x="1920240" y="2194560"/>
            <a:ext cx="4114800" cy="1371600"/>
          </a:xfrm>
          <a:prstGeom prst="rect">
            <a:avLst/>
          </a:prstGeom>
          <a:noFill/>
        </p:spPr>
        <p:txBody>
          <a:bodyPr wrap="square">
            <a:spAutoFit/>
          </a:bodyPr>
          <a:lstStyle/>
          <a:p>
            <a:pPr>
              <a:defRPr sz="4600" b="1">
                <a:solidFill>
                  <a:srgbClr val="FD1485"/>
                </a:solidFill>
                <a:latin typeface="Fjalla One"/>
              </a:defRPr>
            </a:pPr>
            <a:r>
              <a:t>100%</a:t>
            </a:r>
          </a:p>
          <a:p>
            <a:pPr>
              <a:spcBef>
                <a:spcPts val="200"/>
              </a:spcBef>
              <a:defRPr sz="1200" b="1">
                <a:solidFill>
                  <a:srgbClr val="353334"/>
                </a:solidFill>
                <a:latin typeface="Fjalla One"/>
              </a:defRPr>
            </a:pPr>
            <a:r>
              <a:t>of claimed skills labelled with evidence or flagged Unverified</a:t>
            </a:r>
          </a:p>
        </p:txBody>
      </p:sp>
      <p:sp>
        <p:nvSpPr>
          <p:cNvPr id="27" name="TextBox 26"/>
          <p:cNvSpPr txBox="1"/>
          <p:nvPr/>
        </p:nvSpPr>
        <p:spPr>
          <a:xfrm>
            <a:off x="6217920" y="2286000"/>
            <a:ext cx="4572000" cy="1280160"/>
          </a:xfrm>
          <a:prstGeom prst="rect">
            <a:avLst/>
          </a:prstGeom>
          <a:noFill/>
        </p:spPr>
        <p:txBody>
          <a:bodyPr wrap="square">
            <a:spAutoFit/>
          </a:bodyPr>
          <a:lstStyle/>
          <a:p>
            <a:pPr>
              <a:defRPr sz="1200" b="1">
                <a:solidFill>
                  <a:srgbClr val="353334"/>
                </a:solidFill>
                <a:latin typeface="Fjalla One"/>
              </a:defRPr>
            </a:pPr>
            <a:r>
              <a:t>HOW IT WAS MEASURED</a:t>
            </a:r>
          </a:p>
          <a:p>
            <a:pPr>
              <a:spcBef>
                <a:spcPts val="300"/>
              </a:spcBef>
              <a:defRPr sz="1000">
                <a:solidFill>
                  <a:srgbClr val="3C3C41"/>
                </a:solidFill>
                <a:latin typeface="Mulish"/>
              </a:defRPr>
            </a:pPr>
            <a:r>
              <a:t>By design: every resume skill gets strong, moderate, weak or unverified plus a one-line reason and proof link.</a:t>
            </a:r>
            <a:br/>
            <a:r>
              <a:t>No placement-outcome study yet; the score is diagnostic, not predictive.</a:t>
            </a:r>
          </a:p>
        </p:txBody>
      </p:sp>
      <p:sp>
        <p:nvSpPr>
          <p:cNvPr id="28" name="Rounded Rectangle 27"/>
          <p:cNvSpPr/>
          <p:nvPr/>
        </p:nvSpPr>
        <p:spPr>
          <a:xfrm>
            <a:off x="1645920" y="4114800"/>
            <a:ext cx="2971800" cy="242316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1965960" y="3986784"/>
            <a:ext cx="1600200" cy="256032"/>
          </a:xfrm>
          <a:prstGeom prst="roundRect">
            <a:avLst>
              <a:gd name="adj" fmla="val 50000"/>
            </a:avLst>
          </a:prstGeom>
          <a:solidFill>
            <a:srgbClr val="079ED2"/>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IMPACT 01</a:t>
            </a:r>
          </a:p>
        </p:txBody>
      </p:sp>
      <p:sp>
        <p:nvSpPr>
          <p:cNvPr id="30" name="TextBox 29"/>
          <p:cNvSpPr txBox="1"/>
          <p:nvPr/>
        </p:nvSpPr>
        <p:spPr>
          <a:xfrm>
            <a:off x="1828800" y="4343400"/>
            <a:ext cx="2606040" cy="2057400"/>
          </a:xfrm>
          <a:prstGeom prst="rect">
            <a:avLst/>
          </a:prstGeom>
          <a:noFill/>
        </p:spPr>
        <p:txBody>
          <a:bodyPr wrap="square">
            <a:spAutoFit/>
          </a:bodyPr>
          <a:lstStyle/>
          <a:p>
            <a:pPr>
              <a:defRPr sz="1100" b="1">
                <a:solidFill>
                  <a:srgbClr val="353334"/>
                </a:solidFill>
                <a:latin typeface="Fjalla One"/>
              </a:defRPr>
            </a:pPr>
            <a:r>
              <a:t>WHAT IMPROVES</a:t>
            </a:r>
          </a:p>
          <a:p>
            <a:pPr>
              <a:spcBef>
                <a:spcPts val="400"/>
              </a:spcBef>
              <a:defRPr sz="950">
                <a:solidFill>
                  <a:srgbClr val="3C3C41"/>
                </a:solidFill>
                <a:latin typeface="Mulish"/>
              </a:defRPr>
            </a:pPr>
            <a:r>
              <a:t>Before: a keyword match % nobody can explain.</a:t>
            </a:r>
            <a:br/>
            <a:r>
              <a:t>After: a 0–100 score per target role with a component breakdown, per-claim proof links and a roadmap whose milestones show an estimated score gain.</a:t>
            </a:r>
          </a:p>
        </p:txBody>
      </p:sp>
      <p:sp>
        <p:nvSpPr>
          <p:cNvPr id="31" name="Rounded Rectangle 30"/>
          <p:cNvSpPr/>
          <p:nvPr/>
        </p:nvSpPr>
        <p:spPr>
          <a:xfrm>
            <a:off x="4864608" y="4114800"/>
            <a:ext cx="2971800" cy="242316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5184648" y="3986784"/>
            <a:ext cx="1600200" cy="256032"/>
          </a:xfrm>
          <a:prstGeom prst="roundRect">
            <a:avLst>
              <a:gd name="adj" fmla="val 50000"/>
            </a:avLst>
          </a:prstGeom>
          <a:solidFill>
            <a:srgbClr val="FFB903"/>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353334"/>
                </a:solidFill>
                <a:latin typeface="Mulish"/>
              </a:defRPr>
            </a:pPr>
            <a:r>
              <a:t>IMPACT 02</a:t>
            </a:r>
          </a:p>
        </p:txBody>
      </p:sp>
      <p:sp>
        <p:nvSpPr>
          <p:cNvPr id="33" name="TextBox 32"/>
          <p:cNvSpPr txBox="1"/>
          <p:nvPr/>
        </p:nvSpPr>
        <p:spPr>
          <a:xfrm>
            <a:off x="5047488" y="4343400"/>
            <a:ext cx="2606040" cy="2057400"/>
          </a:xfrm>
          <a:prstGeom prst="rect">
            <a:avLst/>
          </a:prstGeom>
          <a:noFill/>
        </p:spPr>
        <p:txBody>
          <a:bodyPr wrap="square">
            <a:spAutoFit/>
          </a:bodyPr>
          <a:lstStyle/>
          <a:p>
            <a:pPr>
              <a:defRPr sz="1100" b="1">
                <a:solidFill>
                  <a:srgbClr val="353334"/>
                </a:solidFill>
                <a:latin typeface="Fjalla One"/>
              </a:defRPr>
            </a:pPr>
            <a:r>
              <a:t>WHO ELSE BENEFITS</a:t>
            </a:r>
          </a:p>
          <a:p>
            <a:pPr>
              <a:spcBef>
                <a:spcPts val="400"/>
              </a:spcBef>
              <a:defRPr sz="950">
                <a:solidFill>
                  <a:srgbClr val="3C3C41"/>
                </a:solidFill>
                <a:latin typeface="Mulish"/>
              </a:defRPr>
            </a:pPr>
            <a:r>
              <a:t>Placement cells get Cohort Insights: readiness distribution, top missing skills, unverified-claim rate and at-risk list.</a:t>
            </a:r>
            <a:br/>
            <a:r>
              <a:t>Designers and PMs are scored on design evidence, not as failing developers.</a:t>
            </a:r>
          </a:p>
        </p:txBody>
      </p:sp>
      <p:sp>
        <p:nvSpPr>
          <p:cNvPr id="34" name="Rounded Rectangle 33"/>
          <p:cNvSpPr/>
          <p:nvPr/>
        </p:nvSpPr>
        <p:spPr>
          <a:xfrm>
            <a:off x="8083296" y="4114800"/>
            <a:ext cx="2971800" cy="242316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8403336" y="3986784"/>
            <a:ext cx="1600200" cy="256032"/>
          </a:xfrm>
          <a:prstGeom prst="roundRect">
            <a:avLst>
              <a:gd name="adj" fmla="val 50000"/>
            </a:avLst>
          </a:prstGeom>
          <a:solidFill>
            <a:srgbClr val="353334"/>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IMPACT 03</a:t>
            </a:r>
          </a:p>
        </p:txBody>
      </p:sp>
      <p:sp>
        <p:nvSpPr>
          <p:cNvPr id="36" name="TextBox 35"/>
          <p:cNvSpPr txBox="1"/>
          <p:nvPr/>
        </p:nvSpPr>
        <p:spPr>
          <a:xfrm>
            <a:off x="8266176" y="4343400"/>
            <a:ext cx="2606040" cy="2057400"/>
          </a:xfrm>
          <a:prstGeom prst="rect">
            <a:avLst/>
          </a:prstGeom>
          <a:noFill/>
        </p:spPr>
        <p:txBody>
          <a:bodyPr wrap="square">
            <a:spAutoFit/>
          </a:bodyPr>
          <a:lstStyle/>
          <a:p>
            <a:pPr>
              <a:defRPr sz="1100" b="1">
                <a:solidFill>
                  <a:srgbClr val="353334"/>
                </a:solidFill>
                <a:latin typeface="Fjalla One"/>
              </a:defRPr>
            </a:pPr>
            <a:r>
              <a:t>RISKS / MISUSE</a:t>
            </a:r>
          </a:p>
          <a:p>
            <a:pPr>
              <a:spcBef>
                <a:spcPts val="400"/>
              </a:spcBef>
              <a:defRPr sz="950">
                <a:solidFill>
                  <a:srgbClr val="3C3C41"/>
                </a:solidFill>
                <a:latin typeface="Mulish"/>
              </a:defRPr>
            </a:pPr>
            <a:r>
              <a:t>Misuse as a hiring filter or an unfair accusation of AI-written text.</a:t>
            </a:r>
            <a:br/>
            <a:r>
              <a:t>We never label writing as AI-generated, only what evidence is missing. PII is stripped before any LLM call.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82880" y="1051560"/>
            <a:ext cx="1051560" cy="329184"/>
          </a:xfrm>
          <a:prstGeom prst="roundRect">
            <a:avLst>
              <a:gd name="adj" fmla="val 50000"/>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82880" y="1453896"/>
            <a:ext cx="1463040" cy="329184"/>
          </a:xfrm>
          <a:prstGeom prst="roundRect">
            <a:avLst>
              <a:gd name="adj" fmla="val 50000"/>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82880" y="1856232"/>
            <a:ext cx="1051560" cy="329184"/>
          </a:xfrm>
          <a:prstGeom prst="roundRect">
            <a:avLst>
              <a:gd name="adj" fmla="val 50000"/>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0" y="5486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521440" y="7132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521440" y="8778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521440" y="10424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55778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57424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59070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60716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087100" y="5934075"/>
            <a:ext cx="32004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237595" y="5783580"/>
            <a:ext cx="19050" cy="32004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192256" y="5888736"/>
            <a:ext cx="109728" cy="109728"/>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rc 16"/>
          <p:cNvSpPr/>
          <p:nvPr/>
        </p:nvSpPr>
        <p:spPr>
          <a:xfrm>
            <a:off x="8412480" y="640080"/>
            <a:ext cx="1005840" cy="822960"/>
          </a:xfrm>
          <a:prstGeom prst="arc">
            <a:avLst/>
          </a:prstGeom>
          <a:noFill/>
          <a:ln w="19050">
            <a:solidFill>
              <a:srgbClr val="079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371332" y="101041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77172" y="59893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45920" y="384048"/>
            <a:ext cx="8229600" cy="274320"/>
          </a:xfrm>
          <a:prstGeom prst="rect">
            <a:avLst/>
          </a:prstGeom>
          <a:noFill/>
        </p:spPr>
        <p:txBody>
          <a:bodyPr wrap="none" lIns="0" tIns="0" rIns="0" bIns="0">
            <a:spAutoFit/>
          </a:bodyPr>
          <a:lstStyle/>
          <a:p>
            <a:pPr>
              <a:defRPr sz="1050" b="1">
                <a:solidFill>
                  <a:srgbClr val="353334"/>
                </a:solidFill>
                <a:latin typeface="Mulish"/>
              </a:defRPr>
            </a:pPr>
            <a:r>
              <a:t>DATAQUEST 3.0  ·  ROUND 1</a:t>
            </a:r>
          </a:p>
        </p:txBody>
      </p:sp>
      <p:sp>
        <p:nvSpPr>
          <p:cNvPr id="21" name="TextBox 20"/>
          <p:cNvSpPr txBox="1"/>
          <p:nvPr/>
        </p:nvSpPr>
        <p:spPr>
          <a:xfrm>
            <a:off x="1645920" y="621792"/>
            <a:ext cx="9144000" cy="777240"/>
          </a:xfrm>
          <a:prstGeom prst="rect">
            <a:avLst/>
          </a:prstGeom>
          <a:noFill/>
        </p:spPr>
        <p:txBody>
          <a:bodyPr wrap="square" lIns="0" tIns="0" rIns="0" bIns="0">
            <a:spAutoFit/>
          </a:bodyPr>
          <a:lstStyle/>
          <a:p>
            <a:r>
              <a:rPr sz="3600" b="1">
                <a:solidFill>
                  <a:srgbClr val="FD1485"/>
                </a:solidFill>
                <a:latin typeface="Fjalla One"/>
              </a:rPr>
              <a:t>07  </a:t>
            </a:r>
            <a:r>
              <a:rPr sz="3200" b="1">
                <a:solidFill>
                  <a:srgbClr val="353334"/>
                </a:solidFill>
                <a:latin typeface="Fjalla One"/>
              </a:rPr>
              <a:t>Why This Project?</a:t>
            </a:r>
          </a:p>
        </p:txBody>
      </p:sp>
      <p:sp>
        <p:nvSpPr>
          <p:cNvPr id="22" name="Rectangle 21"/>
          <p:cNvSpPr/>
          <p:nvPr/>
        </p:nvSpPr>
        <p:spPr>
          <a:xfrm>
            <a:off x="1645920" y="1444752"/>
            <a:ext cx="941832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 y="1517904"/>
            <a:ext cx="9418320" cy="320040"/>
          </a:xfrm>
          <a:prstGeom prst="rect">
            <a:avLst/>
          </a:prstGeom>
          <a:noFill/>
        </p:spPr>
        <p:txBody>
          <a:bodyPr wrap="none" lIns="0" tIns="0" rIns="0" bIns="0">
            <a:spAutoFit/>
          </a:bodyPr>
          <a:lstStyle/>
          <a:p>
            <a:pPr>
              <a:defRPr sz="1100">
                <a:solidFill>
                  <a:srgbClr val="6E6E73"/>
                </a:solidFill>
                <a:latin typeface="Mulish"/>
              </a:defRPr>
            </a:pPr>
            <a:r>
              <a:t>Direct contrast with today's alternatives · Unfair technical advantage</a:t>
            </a:r>
          </a:p>
        </p:txBody>
      </p:sp>
      <p:sp>
        <p:nvSpPr>
          <p:cNvPr id="24" name="Rounded Rectangle 23"/>
          <p:cNvSpPr/>
          <p:nvPr/>
        </p:nvSpPr>
        <p:spPr>
          <a:xfrm>
            <a:off x="1645920" y="2011680"/>
            <a:ext cx="4572000" cy="265176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965960" y="1883664"/>
            <a:ext cx="1600200" cy="256032"/>
          </a:xfrm>
          <a:prstGeom prst="roundRect">
            <a:avLst>
              <a:gd name="adj" fmla="val 50000"/>
            </a:avLst>
          </a:prstGeom>
          <a:solidFill>
            <a:srgbClr val="353334"/>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STATUS QUO</a:t>
            </a:r>
          </a:p>
        </p:txBody>
      </p:sp>
      <p:sp>
        <p:nvSpPr>
          <p:cNvPr id="26" name="TextBox 25"/>
          <p:cNvSpPr txBox="1"/>
          <p:nvPr/>
        </p:nvSpPr>
        <p:spPr>
          <a:xfrm>
            <a:off x="1920240" y="2286000"/>
            <a:ext cx="4023360" cy="2194560"/>
          </a:xfrm>
          <a:prstGeom prst="rect">
            <a:avLst/>
          </a:prstGeom>
          <a:noFill/>
        </p:spPr>
        <p:txBody>
          <a:bodyPr wrap="square">
            <a:spAutoFit/>
          </a:bodyPr>
          <a:lstStyle/>
          <a:p>
            <a:pPr>
              <a:defRPr sz="1400" b="1">
                <a:solidFill>
                  <a:srgbClr val="353334"/>
                </a:solidFill>
                <a:latin typeface="Fjalla One"/>
              </a:defRPr>
            </a:pPr>
            <a:r>
              <a:t>CURRENT APPROACH</a:t>
            </a:r>
          </a:p>
          <a:p>
            <a:pPr>
              <a:spcBef>
                <a:spcPts val="400"/>
              </a:spcBef>
              <a:defRPr sz="1000">
                <a:solidFill>
                  <a:srgbClr val="3C3C41"/>
                </a:solidFill>
                <a:latin typeface="Mulish"/>
              </a:defRPr>
            </a:pPr>
            <a:r>
              <a:t>Keyword ATS tools and test-based placement platforms.</a:t>
            </a:r>
            <a:br/>
            <a:br/>
            <a:r>
              <a:t>Jobscan, Teal and Simplify show an opaque match %; Superset, Mettl and Unstop score tests. Neither checks whether a claimed skill is backed by work the student built.</a:t>
            </a:r>
          </a:p>
        </p:txBody>
      </p:sp>
      <p:sp>
        <p:nvSpPr>
          <p:cNvPr id="27" name="Rounded Rectangle 26"/>
          <p:cNvSpPr/>
          <p:nvPr/>
        </p:nvSpPr>
        <p:spPr>
          <a:xfrm>
            <a:off x="6492240" y="2011680"/>
            <a:ext cx="4572000" cy="265176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812280" y="1883664"/>
            <a:ext cx="1600200" cy="256032"/>
          </a:xfrm>
          <a:prstGeom prst="roundRect">
            <a:avLst>
              <a:gd name="adj" fmla="val 50000"/>
            </a:avLst>
          </a:prstGeom>
          <a:solidFill>
            <a:srgbClr val="079ED2"/>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OUR SOLUTION</a:t>
            </a:r>
          </a:p>
        </p:txBody>
      </p:sp>
      <p:sp>
        <p:nvSpPr>
          <p:cNvPr id="29" name="TextBox 28"/>
          <p:cNvSpPr txBox="1"/>
          <p:nvPr/>
        </p:nvSpPr>
        <p:spPr>
          <a:xfrm>
            <a:off x="6766560" y="2286000"/>
            <a:ext cx="4023360" cy="2194560"/>
          </a:xfrm>
          <a:prstGeom prst="rect">
            <a:avLst/>
          </a:prstGeom>
          <a:noFill/>
        </p:spPr>
        <p:txBody>
          <a:bodyPr wrap="square">
            <a:spAutoFit/>
          </a:bodyPr>
          <a:lstStyle/>
          <a:p>
            <a:pPr>
              <a:defRPr sz="1400" b="1">
                <a:solidFill>
                  <a:srgbClr val="353334"/>
                </a:solidFill>
                <a:latin typeface="Fjalla One"/>
              </a:defRPr>
            </a:pPr>
            <a:r>
              <a:t>OUR APPROACH</a:t>
            </a:r>
          </a:p>
          <a:p>
            <a:pPr>
              <a:spcBef>
                <a:spcPts val="400"/>
              </a:spcBef>
              <a:defRPr sz="1000">
                <a:solidFill>
                  <a:srgbClr val="3C3C41"/>
                </a:solidFill>
                <a:latin typeface="Mulish"/>
              </a:defRPr>
            </a:pPr>
            <a:r>
              <a:t>Verify each claim against evidence, then score it.</a:t>
            </a:r>
            <a:br/>
            <a:br/>
            <a:r>
              <a:t>Deterministic detectors scan repos, design links and commit cadence; the LLM only extracts and judges; every score point links to a signal; the roadmap picks from a curated catalogue, so no URLs are invented.</a:t>
            </a:r>
          </a:p>
        </p:txBody>
      </p:sp>
      <p:sp>
        <p:nvSpPr>
          <p:cNvPr id="30" name="Rounded Rectangle 29"/>
          <p:cNvSpPr/>
          <p:nvPr/>
        </p:nvSpPr>
        <p:spPr>
          <a:xfrm>
            <a:off x="1645920" y="4892040"/>
            <a:ext cx="9418320" cy="164592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1965960" y="4764024"/>
            <a:ext cx="1600200" cy="256032"/>
          </a:xfrm>
          <a:prstGeom prst="roundRect">
            <a:avLst>
              <a:gd name="adj" fmla="val 50000"/>
            </a:avLst>
          </a:prstGeom>
          <a:solidFill>
            <a:srgbClr val="FD1485"/>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MOAT / DIFFERENTIATION</a:t>
            </a:r>
          </a:p>
        </p:txBody>
      </p:sp>
      <p:sp>
        <p:nvSpPr>
          <p:cNvPr id="32" name="TextBox 31"/>
          <p:cNvSpPr txBox="1"/>
          <p:nvPr/>
        </p:nvSpPr>
        <p:spPr>
          <a:xfrm>
            <a:off x="1920240" y="5120640"/>
            <a:ext cx="8869680" cy="1280160"/>
          </a:xfrm>
          <a:prstGeom prst="rect">
            <a:avLst/>
          </a:prstGeom>
          <a:noFill/>
        </p:spPr>
        <p:txBody>
          <a:bodyPr wrap="square">
            <a:spAutoFit/>
          </a:bodyPr>
          <a:lstStyle/>
          <a:p>
            <a:pPr>
              <a:defRPr sz="1200" b="1">
                <a:solidFill>
                  <a:srgbClr val="FD1485"/>
                </a:solidFill>
                <a:latin typeface="Fjalla One"/>
              </a:defRPr>
            </a:pPr>
            <a:r>
              <a:t>KEY DIFFERENCE</a:t>
            </a:r>
          </a:p>
          <a:p>
            <a:pPr>
              <a:spcBef>
                <a:spcPts val="400"/>
              </a:spcBef>
              <a:defRPr sz="1200" b="1">
                <a:solidFill>
                  <a:srgbClr val="353334"/>
                </a:solidFill>
                <a:latin typeface="Fjalla One"/>
              </a:defRPr>
            </a:pPr>
            <a:r>
              <a:t>Existing tools tell a placement officer how students score on tests. CareerLens tells them whether what students claim is backed by work they actually built, per claim and with links, for code and design alike.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82880" y="1051560"/>
            <a:ext cx="1051560" cy="329184"/>
          </a:xfrm>
          <a:prstGeom prst="roundRect">
            <a:avLst>
              <a:gd name="adj" fmla="val 50000"/>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82880" y="1453896"/>
            <a:ext cx="1463040" cy="329184"/>
          </a:xfrm>
          <a:prstGeom prst="roundRect">
            <a:avLst>
              <a:gd name="adj" fmla="val 50000"/>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82880" y="1856232"/>
            <a:ext cx="1051560" cy="329184"/>
          </a:xfrm>
          <a:prstGeom prst="roundRect">
            <a:avLst>
              <a:gd name="adj" fmla="val 50000"/>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0" y="5486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521440" y="7132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521440" y="8778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521440" y="10424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55778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57424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59070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60716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087100" y="5934075"/>
            <a:ext cx="32004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237595" y="5783580"/>
            <a:ext cx="19050" cy="32004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192256" y="5888736"/>
            <a:ext cx="109728" cy="109728"/>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rc 16"/>
          <p:cNvSpPr/>
          <p:nvPr/>
        </p:nvSpPr>
        <p:spPr>
          <a:xfrm>
            <a:off x="8412480" y="640080"/>
            <a:ext cx="1005840" cy="822960"/>
          </a:xfrm>
          <a:prstGeom prst="arc">
            <a:avLst/>
          </a:prstGeom>
          <a:noFill/>
          <a:ln w="19050">
            <a:solidFill>
              <a:srgbClr val="079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371332" y="101041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77172" y="59893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45920" y="384048"/>
            <a:ext cx="8229600" cy="274320"/>
          </a:xfrm>
          <a:prstGeom prst="rect">
            <a:avLst/>
          </a:prstGeom>
          <a:noFill/>
        </p:spPr>
        <p:txBody>
          <a:bodyPr wrap="none" lIns="0" tIns="0" rIns="0" bIns="0">
            <a:spAutoFit/>
          </a:bodyPr>
          <a:lstStyle/>
          <a:p>
            <a:pPr>
              <a:defRPr sz="1050" b="1">
                <a:solidFill>
                  <a:srgbClr val="353334"/>
                </a:solidFill>
                <a:latin typeface="Mulish"/>
              </a:defRPr>
            </a:pPr>
            <a:r>
              <a:t>DATAQUEST 3.0  ·  ROUND 1</a:t>
            </a:r>
          </a:p>
        </p:txBody>
      </p:sp>
      <p:sp>
        <p:nvSpPr>
          <p:cNvPr id="21" name="TextBox 20"/>
          <p:cNvSpPr txBox="1"/>
          <p:nvPr/>
        </p:nvSpPr>
        <p:spPr>
          <a:xfrm>
            <a:off x="1645920" y="621792"/>
            <a:ext cx="9144000" cy="553998"/>
          </a:xfrm>
          <a:prstGeom prst="rect">
            <a:avLst/>
          </a:prstGeom>
          <a:noFill/>
        </p:spPr>
        <p:txBody>
          <a:bodyPr wrap="square" lIns="0" tIns="0" rIns="0" bIns="0" anchor="t">
            <a:spAutoFit/>
          </a:bodyPr>
          <a:lstStyle/>
          <a:p>
            <a:r>
              <a:rPr lang="en-US" sz="3600" b="1" dirty="0">
                <a:solidFill>
                  <a:srgbClr val="FD1485"/>
                </a:solidFill>
                <a:latin typeface="Fjalla One"/>
              </a:rPr>
              <a:t>08  </a:t>
            </a:r>
            <a:r>
              <a:rPr sz="3200" b="1" dirty="0">
                <a:solidFill>
                  <a:srgbClr val="353334"/>
                </a:solidFill>
                <a:latin typeface="Fjalla One"/>
              </a:rPr>
              <a:t>Literature Survey</a:t>
            </a:r>
          </a:p>
        </p:txBody>
      </p:sp>
      <p:sp>
        <p:nvSpPr>
          <p:cNvPr id="22" name="Rectangle 21"/>
          <p:cNvSpPr/>
          <p:nvPr/>
        </p:nvSpPr>
        <p:spPr>
          <a:xfrm>
            <a:off x="1645920" y="1444752"/>
            <a:ext cx="941832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 y="1517904"/>
            <a:ext cx="9418320" cy="320040"/>
          </a:xfrm>
          <a:prstGeom prst="rect">
            <a:avLst/>
          </a:prstGeom>
          <a:noFill/>
        </p:spPr>
        <p:txBody>
          <a:bodyPr wrap="none" lIns="0" tIns="0" rIns="0" bIns="0">
            <a:spAutoFit/>
          </a:bodyPr>
          <a:lstStyle/>
          <a:p>
            <a:pPr>
              <a:defRPr sz="1100">
                <a:solidFill>
                  <a:srgbClr val="6E6E73"/>
                </a:solidFill>
                <a:latin typeface="Mulish"/>
              </a:defRPr>
            </a:pPr>
            <a:r>
              <a:t>Who built what · What they found · Gaps we identified</a:t>
            </a:r>
          </a:p>
        </p:txBody>
      </p:sp>
      <p:sp>
        <p:nvSpPr>
          <p:cNvPr id="201" name="Survey Card"/>
          <p:cNvSpPr/>
          <p:nvPr/>
        </p:nvSpPr>
        <p:spPr>
          <a:xfrm>
            <a:off x="1645920" y="2011680"/>
            <a:ext cx="9418320" cy="452628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Survey Pill"/>
          <p:cNvSpPr/>
          <p:nvPr/>
        </p:nvSpPr>
        <p:spPr>
          <a:xfrm>
            <a:off x="1965960" y="1883664"/>
            <a:ext cx="1600200" cy="256032"/>
          </a:xfrm>
          <a:prstGeom prst="roundRect">
            <a:avLst>
              <a:gd name="adj" fmla="val 50000"/>
            </a:avLst>
          </a:prstGeom>
          <a:solidFill>
            <a:srgbClr val="FD1485"/>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LITERATURE REVIEW</a:t>
            </a:r>
          </a:p>
        </p:txBody>
      </p:sp>
      <p:sp>
        <p:nvSpPr>
          <p:cNvPr id="203" name="Col Head 1"/>
          <p:cNvSpPr txBox="1"/>
          <p:nvPr/>
        </p:nvSpPr>
        <p:spPr>
          <a:xfrm>
            <a:off x="1828800" y="2201680"/>
            <a:ext cx="2286000" cy="230000"/>
          </a:xfrm>
          <a:prstGeom prst="rect">
            <a:avLst/>
          </a:prstGeom>
          <a:noFill/>
        </p:spPr>
        <p:txBody>
          <a:bodyPr wrap="square" lIns="0" tIns="0" rIns="0" bIns="0" anchor="ctr"/>
          <a:lstStyle/>
          <a:p>
            <a:pPr>
              <a:defRPr sz="1100" b="1">
                <a:solidFill>
                  <a:srgbClr val="353334"/>
                </a:solidFill>
                <a:latin typeface="Fjalla One"/>
              </a:defRPr>
            </a:pPr>
            <a:r>
              <a:rPr lang="en-US" sz="1100" b="1">
                <a:solidFill>
                  <a:srgbClr val="353334"/>
                </a:solidFill>
                <a:latin typeface="Fjalla One"/>
              </a:rPr>
              <a:t>AUTHOR / SOURCE</a:t>
            </a:r>
          </a:p>
        </p:txBody>
      </p:sp>
      <p:sp>
        <p:nvSpPr>
          <p:cNvPr id="204" name="Col Head 2"/>
          <p:cNvSpPr txBox="1"/>
          <p:nvPr/>
        </p:nvSpPr>
        <p:spPr>
          <a:xfrm>
            <a:off x="4206240" y="2201680"/>
            <a:ext cx="3566160" cy="230000"/>
          </a:xfrm>
          <a:prstGeom prst="rect">
            <a:avLst/>
          </a:prstGeom>
          <a:noFill/>
        </p:spPr>
        <p:txBody>
          <a:bodyPr wrap="square" lIns="0" tIns="0" rIns="0" bIns="0" anchor="ctr"/>
          <a:lstStyle/>
          <a:p>
            <a:pPr>
              <a:defRPr sz="1100" b="1">
                <a:solidFill>
                  <a:srgbClr val="353334"/>
                </a:solidFill>
                <a:latin typeface="Fjalla One"/>
              </a:defRPr>
            </a:pPr>
            <a:r>
              <a:rPr lang="en-US" sz="1100" b="1">
                <a:solidFill>
                  <a:srgbClr val="353334"/>
                </a:solidFill>
                <a:latin typeface="Fjalla One"/>
              </a:rPr>
              <a:t>WHAT THEY DID OR FOUND</a:t>
            </a:r>
          </a:p>
        </p:txBody>
      </p:sp>
      <p:sp>
        <p:nvSpPr>
          <p:cNvPr id="205" name="Col Head 3"/>
          <p:cNvSpPr txBox="1"/>
          <p:nvPr/>
        </p:nvSpPr>
        <p:spPr>
          <a:xfrm>
            <a:off x="7863840" y="2201680"/>
            <a:ext cx="3017520" cy="230000"/>
          </a:xfrm>
          <a:prstGeom prst="rect">
            <a:avLst/>
          </a:prstGeom>
          <a:noFill/>
        </p:spPr>
        <p:txBody>
          <a:bodyPr wrap="square" lIns="0" tIns="0" rIns="0" bIns="0" anchor="ctr"/>
          <a:lstStyle/>
          <a:p>
            <a:pPr>
              <a:defRPr sz="1100" b="1">
                <a:solidFill>
                  <a:srgbClr val="FD1485"/>
                </a:solidFill>
                <a:latin typeface="Fjalla One"/>
              </a:defRPr>
            </a:pPr>
            <a:r>
              <a:rPr lang="en-US" sz="1100" b="1">
                <a:solidFill>
                  <a:srgbClr val="FD1485"/>
                </a:solidFill>
                <a:latin typeface="Fjalla One"/>
              </a:rPr>
              <a:t>GAP WE IDENTIFIED</a:t>
            </a:r>
          </a:p>
        </p:txBody>
      </p:sp>
      <p:sp>
        <p:nvSpPr>
          <p:cNvPr id="206" name="Head Rule"/>
          <p:cNvSpPr/>
          <p:nvPr/>
        </p:nvSpPr>
        <p:spPr>
          <a:xfrm>
            <a:off x="1828800" y="2461680"/>
            <a:ext cx="9052560" cy="1270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Cell 1-1"/>
          <p:cNvSpPr txBox="1"/>
          <p:nvPr/>
        </p:nvSpPr>
        <p:spPr>
          <a:xfrm>
            <a:off x="1828800" y="2521680"/>
            <a:ext cx="2286000" cy="520897"/>
          </a:xfrm>
          <a:prstGeom prst="rect">
            <a:avLst/>
          </a:prstGeom>
          <a:noFill/>
        </p:spPr>
        <p:txBody>
          <a:bodyPr wrap="square" lIns="0" tIns="0" rIns="0" bIns="0" anchor="ctr"/>
          <a:lstStyle/>
          <a:p>
            <a:pPr>
              <a:defRPr sz="950" b="1">
                <a:solidFill>
                  <a:srgbClr val="353334"/>
                </a:solidFill>
                <a:latin typeface="Mulish"/>
              </a:defRPr>
            </a:pPr>
            <a:r>
              <a:rPr lang="en-US" sz="950" b="1">
                <a:solidFill>
                  <a:srgbClr val="353334"/>
                </a:solidFill>
                <a:latin typeface="Mulish"/>
              </a:rPr>
              <a:t>HackerRank: hiring-agent (MIT, ~7.1k stars)</a:t>
            </a:r>
          </a:p>
        </p:txBody>
      </p:sp>
      <p:sp>
        <p:nvSpPr>
          <p:cNvPr id="208" name="Cell 1-2"/>
          <p:cNvSpPr txBox="1"/>
          <p:nvPr/>
        </p:nvSpPr>
        <p:spPr>
          <a:xfrm>
            <a:off x="4206240" y="2521680"/>
            <a:ext cx="3566160" cy="520897"/>
          </a:xfrm>
          <a:prstGeom prst="rect">
            <a:avLst/>
          </a:prstGeom>
          <a:noFill/>
        </p:spPr>
        <p:txBody>
          <a:bodyPr wrap="square" lIns="0" tIns="0" rIns="0" bIns="0" anchor="ctr"/>
          <a:lstStyle/>
          <a:p>
            <a:pPr>
              <a:defRPr sz="950">
                <a:solidFill>
                  <a:srgbClr val="3C3C41"/>
                </a:solidFill>
                <a:latin typeface="Mulish"/>
              </a:defRPr>
            </a:pPr>
            <a:r>
              <a:rPr lang="en-US" sz="950">
                <a:solidFill>
                  <a:srgbClr val="3C3C41"/>
                </a:solidFill>
                <a:latin typeface="Mulish"/>
              </a:rPr>
              <a:t>Parses resume PDFs, enriches with GitHub, applies author-commit thresholds and an LLM originality check, then outputs an explainable score.</a:t>
            </a:r>
          </a:p>
        </p:txBody>
      </p:sp>
      <p:sp>
        <p:nvSpPr>
          <p:cNvPr id="209" name="Cell 1-3"/>
          <p:cNvSpPr txBox="1"/>
          <p:nvPr/>
        </p:nvSpPr>
        <p:spPr>
          <a:xfrm>
            <a:off x="7863840" y="2521680"/>
            <a:ext cx="3017520" cy="520897"/>
          </a:xfrm>
          <a:prstGeom prst="rect">
            <a:avLst/>
          </a:prstGeom>
          <a:noFill/>
        </p:spPr>
        <p:txBody>
          <a:bodyPr wrap="square" lIns="0" tIns="0" rIns="0" bIns="0" anchor="ctr"/>
          <a:lstStyle/>
          <a:p>
            <a:pPr>
              <a:defRPr sz="950">
                <a:solidFill>
                  <a:srgbClr val="3C3C41"/>
                </a:solidFill>
                <a:latin typeface="Mulish"/>
              </a:defRPr>
            </a:pPr>
            <a:r>
              <a:rPr lang="en-US" sz="950">
                <a:solidFill>
                  <a:srgbClr val="3C3C41"/>
                </a:solidFill>
                <a:latin typeface="Mulish"/>
              </a:rPr>
              <a:t>Scores categories, not individual resume claims. No design evidence, no placement-cell view.</a:t>
            </a:r>
          </a:p>
        </p:txBody>
      </p:sp>
      <p:sp>
        <p:nvSpPr>
          <p:cNvPr id="210" name="Row Rule 1"/>
          <p:cNvSpPr/>
          <p:nvPr/>
        </p:nvSpPr>
        <p:spPr>
          <a:xfrm>
            <a:off x="1828800" y="3062577"/>
            <a:ext cx="9052560" cy="63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 name="Cell 2-1"/>
          <p:cNvSpPr txBox="1"/>
          <p:nvPr/>
        </p:nvSpPr>
        <p:spPr>
          <a:xfrm>
            <a:off x="1828800" y="3082577"/>
            <a:ext cx="2286000" cy="520897"/>
          </a:xfrm>
          <a:prstGeom prst="rect">
            <a:avLst/>
          </a:prstGeom>
          <a:noFill/>
        </p:spPr>
        <p:txBody>
          <a:bodyPr wrap="square" lIns="0" tIns="0" rIns="0" bIns="0" anchor="ctr"/>
          <a:lstStyle/>
          <a:p>
            <a:pPr>
              <a:defRPr sz="950" b="1">
                <a:solidFill>
                  <a:srgbClr val="353334"/>
                </a:solidFill>
                <a:latin typeface="Mulish"/>
              </a:defRPr>
            </a:pPr>
            <a:r>
              <a:rPr lang="en-US" sz="950" b="1">
                <a:solidFill>
                  <a:srgbClr val="353334"/>
                </a:solidFill>
                <a:latin typeface="Mulish"/>
              </a:rPr>
              <a:t>GradPipe (2025) · GitRoll</a:t>
            </a:r>
          </a:p>
        </p:txBody>
      </p:sp>
      <p:sp>
        <p:nvSpPr>
          <p:cNvPr id="212" name="Cell 2-2"/>
          <p:cNvSpPr txBox="1"/>
          <p:nvPr/>
        </p:nvSpPr>
        <p:spPr>
          <a:xfrm>
            <a:off x="4206240" y="3082577"/>
            <a:ext cx="3566160" cy="520897"/>
          </a:xfrm>
          <a:prstGeom prst="rect">
            <a:avLst/>
          </a:prstGeom>
          <a:noFill/>
        </p:spPr>
        <p:txBody>
          <a:bodyPr wrap="square" lIns="0" tIns="0" rIns="0" bIns="0" anchor="ctr"/>
          <a:lstStyle/>
          <a:p>
            <a:pPr>
              <a:defRPr sz="950">
                <a:solidFill>
                  <a:srgbClr val="3C3C41"/>
                </a:solidFill>
                <a:latin typeface="Mulish"/>
              </a:defRPr>
            </a:pPr>
            <a:r>
              <a:rPr lang="en-US" sz="950">
                <a:solidFill>
                  <a:srgbClr val="3C3C41"/>
                </a:solidFill>
                <a:latin typeface="Mulish"/>
              </a:rPr>
              <a:t>GradPipe scores up to 10,000 commits into a 0–100 ShowOFF Score over 50+ dimensions; GitRoll scores GitHub profiles for recruiters.</a:t>
            </a:r>
          </a:p>
        </p:txBody>
      </p:sp>
      <p:sp>
        <p:nvSpPr>
          <p:cNvPr id="213" name="Cell 2-3"/>
          <p:cNvSpPr txBox="1"/>
          <p:nvPr/>
        </p:nvSpPr>
        <p:spPr>
          <a:xfrm>
            <a:off x="7863840" y="3082577"/>
            <a:ext cx="3017520" cy="520897"/>
          </a:xfrm>
          <a:prstGeom prst="rect">
            <a:avLst/>
          </a:prstGeom>
          <a:noFill/>
        </p:spPr>
        <p:txBody>
          <a:bodyPr wrap="square" lIns="0" tIns="0" rIns="0" bIns="0" anchor="ctr"/>
          <a:lstStyle/>
          <a:p>
            <a:pPr>
              <a:defRPr sz="950">
                <a:solidFill>
                  <a:srgbClr val="3C3C41"/>
                </a:solidFill>
                <a:latin typeface="Mulish"/>
              </a:defRPr>
            </a:pPr>
            <a:r>
              <a:rPr lang="en-US" sz="950">
                <a:solidFill>
                  <a:srgbClr val="3C3C41"/>
                </a:solidFill>
                <a:latin typeface="Mulish"/>
              </a:rPr>
              <a:t>Developer-only and recruiter-facing. No per-claim proof links, no student roadmap.</a:t>
            </a:r>
          </a:p>
        </p:txBody>
      </p:sp>
      <p:sp>
        <p:nvSpPr>
          <p:cNvPr id="214" name="Row Rule 2"/>
          <p:cNvSpPr/>
          <p:nvPr/>
        </p:nvSpPr>
        <p:spPr>
          <a:xfrm>
            <a:off x="1828800" y="3623474"/>
            <a:ext cx="9052560" cy="63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 name="Cell 3-1"/>
          <p:cNvSpPr txBox="1"/>
          <p:nvPr/>
        </p:nvSpPr>
        <p:spPr>
          <a:xfrm>
            <a:off x="1828800" y="3643474"/>
            <a:ext cx="2286000" cy="520897"/>
          </a:xfrm>
          <a:prstGeom prst="rect">
            <a:avLst/>
          </a:prstGeom>
          <a:noFill/>
        </p:spPr>
        <p:txBody>
          <a:bodyPr wrap="square" lIns="0" tIns="0" rIns="0" bIns="0" anchor="ctr"/>
          <a:lstStyle/>
          <a:p>
            <a:pPr>
              <a:defRPr sz="950" b="1">
                <a:solidFill>
                  <a:srgbClr val="353334"/>
                </a:solidFill>
                <a:latin typeface="Mulish"/>
              </a:defRPr>
            </a:pPr>
            <a:r>
              <a:rPr lang="en-US" sz="950" b="1">
                <a:solidFill>
                  <a:srgbClr val="353334"/>
                </a:solidFill>
                <a:latin typeface="Mulish"/>
              </a:rPr>
              <a:t>RashDev (FOSS Hack 2026) · Devpost 'Verify'</a:t>
            </a:r>
          </a:p>
        </p:txBody>
      </p:sp>
      <p:sp>
        <p:nvSpPr>
          <p:cNvPr id="216" name="Cell 3-2"/>
          <p:cNvSpPr txBox="1"/>
          <p:nvPr/>
        </p:nvSpPr>
        <p:spPr>
          <a:xfrm>
            <a:off x="4206240" y="3643474"/>
            <a:ext cx="3566160" cy="520897"/>
          </a:xfrm>
          <a:prstGeom prst="rect">
            <a:avLst/>
          </a:prstGeom>
          <a:noFill/>
        </p:spPr>
        <p:txBody>
          <a:bodyPr wrap="square" lIns="0" tIns="0" rIns="0" bIns="0" anchor="ctr"/>
          <a:lstStyle/>
          <a:p>
            <a:pPr>
              <a:defRPr sz="950">
                <a:solidFill>
                  <a:srgbClr val="3C3C41"/>
                </a:solidFill>
                <a:latin typeface="Mulish"/>
              </a:defRPr>
            </a:pPr>
            <a:r>
              <a:rPr lang="en-US" sz="950">
                <a:solidFill>
                  <a:srgbClr val="3C3C41"/>
                </a:solidFill>
                <a:latin typeface="Mulish"/>
              </a:rPr>
              <a:t>RashDev builds a credibility score from GitHub and Codeforces; Verify cross-references repos to check resume claims.</a:t>
            </a:r>
          </a:p>
        </p:txBody>
      </p:sp>
      <p:sp>
        <p:nvSpPr>
          <p:cNvPr id="217" name="Cell 3-3"/>
          <p:cNvSpPr txBox="1"/>
          <p:nvPr/>
        </p:nvSpPr>
        <p:spPr>
          <a:xfrm>
            <a:off x="7863840" y="3643474"/>
            <a:ext cx="3017520" cy="520897"/>
          </a:xfrm>
          <a:prstGeom prst="rect">
            <a:avLst/>
          </a:prstGeom>
          <a:noFill/>
        </p:spPr>
        <p:txBody>
          <a:bodyPr wrap="square" lIns="0" tIns="0" rIns="0" bIns="0" anchor="ctr"/>
          <a:lstStyle/>
          <a:p>
            <a:pPr>
              <a:defRPr sz="950">
                <a:solidFill>
                  <a:srgbClr val="3C3C41"/>
                </a:solidFill>
                <a:latin typeface="Mulish"/>
              </a:defRPr>
            </a:pPr>
            <a:r>
              <a:rPr lang="en-US" sz="950">
                <a:solidFill>
                  <a:srgbClr val="3C3C41"/>
                </a:solidFill>
                <a:latin typeface="Mulish"/>
              </a:rPr>
              <a:t>Hackathon prototypes with code-only evidence and no batch analytics.</a:t>
            </a:r>
          </a:p>
        </p:txBody>
      </p:sp>
      <p:sp>
        <p:nvSpPr>
          <p:cNvPr id="218" name="Row Rule 3"/>
          <p:cNvSpPr/>
          <p:nvPr/>
        </p:nvSpPr>
        <p:spPr>
          <a:xfrm>
            <a:off x="1828800" y="4184371"/>
            <a:ext cx="9052560" cy="63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Cell 4-1"/>
          <p:cNvSpPr txBox="1"/>
          <p:nvPr/>
        </p:nvSpPr>
        <p:spPr>
          <a:xfrm>
            <a:off x="1828800" y="4204371"/>
            <a:ext cx="2286000" cy="520897"/>
          </a:xfrm>
          <a:prstGeom prst="rect">
            <a:avLst/>
          </a:prstGeom>
          <a:noFill/>
        </p:spPr>
        <p:txBody>
          <a:bodyPr wrap="square" lIns="0" tIns="0" rIns="0" bIns="0" anchor="ctr"/>
          <a:lstStyle/>
          <a:p>
            <a:pPr>
              <a:defRPr sz="950" b="1">
                <a:solidFill>
                  <a:srgbClr val="353334"/>
                </a:solidFill>
                <a:latin typeface="Mulish"/>
              </a:defRPr>
            </a:pPr>
            <a:r>
              <a:rPr lang="en-US" sz="950" b="1">
                <a:solidFill>
                  <a:srgbClr val="353334"/>
                </a:solidFill>
                <a:latin typeface="Mulish"/>
              </a:rPr>
              <a:t>Jobscan · Teal · Simplify · Huntr · Jobright · Rezi · Careerflow</a:t>
            </a:r>
          </a:p>
        </p:txBody>
      </p:sp>
      <p:sp>
        <p:nvSpPr>
          <p:cNvPr id="220" name="Cell 4-2"/>
          <p:cNvSpPr txBox="1"/>
          <p:nvPr/>
        </p:nvSpPr>
        <p:spPr>
          <a:xfrm>
            <a:off x="4206240" y="4204371"/>
            <a:ext cx="3566160" cy="520897"/>
          </a:xfrm>
          <a:prstGeom prst="rect">
            <a:avLst/>
          </a:prstGeom>
          <a:noFill/>
        </p:spPr>
        <p:txBody>
          <a:bodyPr wrap="square" lIns="0" tIns="0" rIns="0" bIns="0" anchor="ctr"/>
          <a:lstStyle/>
          <a:p>
            <a:pPr>
              <a:defRPr sz="950">
                <a:solidFill>
                  <a:srgbClr val="3C3C41"/>
                </a:solidFill>
                <a:latin typeface="Mulish"/>
              </a:defRPr>
            </a:pPr>
            <a:r>
              <a:rPr lang="en-US" sz="950">
                <a:solidFill>
                  <a:srgbClr val="3C3C41"/>
                </a:solidFill>
                <a:latin typeface="Mulish"/>
              </a:rPr>
              <a:t>Keyword or skill-list match against a job description, plus free extensions, trackers and autofill (Simplify: 100+ portals).</a:t>
            </a:r>
          </a:p>
        </p:txBody>
      </p:sp>
      <p:sp>
        <p:nvSpPr>
          <p:cNvPr id="221" name="Cell 4-3"/>
          <p:cNvSpPr txBox="1"/>
          <p:nvPr/>
        </p:nvSpPr>
        <p:spPr>
          <a:xfrm>
            <a:off x="7863840" y="4204371"/>
            <a:ext cx="3017520" cy="520897"/>
          </a:xfrm>
          <a:prstGeom prst="rect">
            <a:avLst/>
          </a:prstGeom>
          <a:noFill/>
        </p:spPr>
        <p:txBody>
          <a:bodyPr wrap="square" lIns="0" tIns="0" rIns="0" bIns="0" anchor="ctr"/>
          <a:lstStyle/>
          <a:p>
            <a:pPr>
              <a:defRPr sz="950">
                <a:solidFill>
                  <a:srgbClr val="3C3C41"/>
                </a:solidFill>
                <a:latin typeface="Mulish"/>
              </a:defRPr>
            </a:pPr>
            <a:r>
              <a:rPr lang="en-US" sz="950">
                <a:solidFill>
                  <a:srgbClr val="3C3C41"/>
                </a:solidFill>
                <a:latin typeface="Mulish"/>
              </a:rPr>
              <a:t>None checks a claim against work. Keyword stuffing; AI tailoring invents metrics ('reducing latency by 67%').</a:t>
            </a:r>
          </a:p>
        </p:txBody>
      </p:sp>
      <p:sp>
        <p:nvSpPr>
          <p:cNvPr id="222" name="Row Rule 4"/>
          <p:cNvSpPr/>
          <p:nvPr/>
        </p:nvSpPr>
        <p:spPr>
          <a:xfrm>
            <a:off x="1828800" y="4745268"/>
            <a:ext cx="9052560" cy="63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 name="Cell 5-1"/>
          <p:cNvSpPr txBox="1"/>
          <p:nvPr/>
        </p:nvSpPr>
        <p:spPr>
          <a:xfrm>
            <a:off x="1828800" y="4765268"/>
            <a:ext cx="2286000" cy="520897"/>
          </a:xfrm>
          <a:prstGeom prst="rect">
            <a:avLst/>
          </a:prstGeom>
          <a:noFill/>
        </p:spPr>
        <p:txBody>
          <a:bodyPr wrap="square" lIns="0" tIns="0" rIns="0" bIns="0" anchor="ctr"/>
          <a:lstStyle/>
          <a:p>
            <a:pPr>
              <a:defRPr sz="950" b="1">
                <a:solidFill>
                  <a:srgbClr val="353334"/>
                </a:solidFill>
                <a:latin typeface="Mulish"/>
              </a:defRPr>
            </a:pPr>
            <a:r>
              <a:rPr lang="en-US" sz="950" b="1">
                <a:solidFill>
                  <a:srgbClr val="353334"/>
                </a:solidFill>
                <a:latin typeface="Mulish"/>
              </a:rPr>
              <a:t>Superset (Great Learning) · HCL GUVI PlacementPreparation.io</a:t>
            </a:r>
          </a:p>
        </p:txBody>
      </p:sp>
      <p:sp>
        <p:nvSpPr>
          <p:cNvPr id="224" name="Cell 5-2"/>
          <p:cNvSpPr txBox="1"/>
          <p:nvPr/>
        </p:nvSpPr>
        <p:spPr>
          <a:xfrm>
            <a:off x="4206240" y="4765268"/>
            <a:ext cx="3566160" cy="520897"/>
          </a:xfrm>
          <a:prstGeom prst="rect">
            <a:avLst/>
          </a:prstGeom>
          <a:noFill/>
        </p:spPr>
        <p:txBody>
          <a:bodyPr wrap="square" lIns="0" tIns="0" rIns="0" bIns="0" anchor="ctr"/>
          <a:lstStyle/>
          <a:p>
            <a:pPr>
              <a:defRPr sz="950">
                <a:solidFill>
                  <a:srgbClr val="3C3C41"/>
                </a:solidFill>
                <a:latin typeface="Mulish"/>
              </a:defRPr>
            </a:pPr>
            <a:r>
              <a:rPr lang="en-US" sz="950">
                <a:solidFill>
                  <a:srgbClr val="3C3C41"/>
                </a:solidFill>
                <a:latin typeface="Mulish"/>
              </a:rPr>
              <a:t>Placement ERPs with batch readiness insights, at-risk flags and a mock-test readiness index. Mettl and Unstop assess by tests.</a:t>
            </a:r>
          </a:p>
        </p:txBody>
      </p:sp>
      <p:sp>
        <p:nvSpPr>
          <p:cNvPr id="225" name="Cell 5-3"/>
          <p:cNvSpPr txBox="1"/>
          <p:nvPr/>
        </p:nvSpPr>
        <p:spPr>
          <a:xfrm>
            <a:off x="7863840" y="4765268"/>
            <a:ext cx="3017520" cy="520897"/>
          </a:xfrm>
          <a:prstGeom prst="rect">
            <a:avLst/>
          </a:prstGeom>
          <a:noFill/>
        </p:spPr>
        <p:txBody>
          <a:bodyPr wrap="square" lIns="0" tIns="0" rIns="0" bIns="0" anchor="ctr"/>
          <a:lstStyle/>
          <a:p>
            <a:pPr>
              <a:defRPr sz="950">
                <a:solidFill>
                  <a:srgbClr val="3C3C41"/>
                </a:solidFill>
                <a:latin typeface="Mulish"/>
              </a:defRPr>
            </a:pPr>
            <a:r>
              <a:rPr lang="en-US" sz="950">
                <a:solidFill>
                  <a:srgbClr val="3C3C41"/>
                </a:solidFill>
                <a:latin typeface="Mulish"/>
              </a:rPr>
              <a:t>Test-based. Superset's 'verification' means grades and enrolment, not skills backed by work.</a:t>
            </a:r>
          </a:p>
        </p:txBody>
      </p:sp>
      <p:sp>
        <p:nvSpPr>
          <p:cNvPr id="226" name="Row Rule 5"/>
          <p:cNvSpPr/>
          <p:nvPr/>
        </p:nvSpPr>
        <p:spPr>
          <a:xfrm>
            <a:off x="1828800" y="5306165"/>
            <a:ext cx="9052560" cy="63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 name="Cell 6-1"/>
          <p:cNvSpPr txBox="1"/>
          <p:nvPr/>
        </p:nvSpPr>
        <p:spPr>
          <a:xfrm>
            <a:off x="1828800" y="5326165"/>
            <a:ext cx="2286000" cy="520897"/>
          </a:xfrm>
          <a:prstGeom prst="rect">
            <a:avLst/>
          </a:prstGeom>
          <a:noFill/>
        </p:spPr>
        <p:txBody>
          <a:bodyPr wrap="square" lIns="0" tIns="0" rIns="0" bIns="0" anchor="ctr"/>
          <a:lstStyle/>
          <a:p>
            <a:pPr>
              <a:defRPr sz="950" b="1">
                <a:solidFill>
                  <a:srgbClr val="353334"/>
                </a:solidFill>
                <a:latin typeface="Mulish"/>
              </a:defRPr>
            </a:pPr>
            <a:r>
              <a:rPr lang="en-US" sz="950" b="1">
                <a:solidFill>
                  <a:srgbClr val="353334"/>
                </a:solidFill>
                <a:latin typeface="Mulish"/>
              </a:rPr>
              <a:t>LREC 2026 paper · Stanford GPT-detector study</a:t>
            </a:r>
          </a:p>
        </p:txBody>
      </p:sp>
      <p:sp>
        <p:nvSpPr>
          <p:cNvPr id="228" name="Cell 6-2"/>
          <p:cNvSpPr txBox="1"/>
          <p:nvPr/>
        </p:nvSpPr>
        <p:spPr>
          <a:xfrm>
            <a:off x="4206240" y="5326165"/>
            <a:ext cx="3566160" cy="520897"/>
          </a:xfrm>
          <a:prstGeom prst="rect">
            <a:avLst/>
          </a:prstGeom>
          <a:noFill/>
        </p:spPr>
        <p:txBody>
          <a:bodyPr wrap="square" lIns="0" tIns="0" rIns="0" bIns="0" anchor="ctr"/>
          <a:lstStyle/>
          <a:p>
            <a:pPr>
              <a:defRPr sz="950">
                <a:solidFill>
                  <a:srgbClr val="3C3C41"/>
                </a:solidFill>
                <a:latin typeface="Mulish"/>
              </a:defRPr>
            </a:pPr>
            <a:r>
              <a:rPr lang="en-US" sz="950">
                <a:solidFill>
                  <a:srgbClr val="3C3C41"/>
                </a:solidFill>
                <a:latin typeface="Mulish"/>
              </a:rPr>
              <a:t>AI-resume detectors scored only 25–56%; GPT detectors misclassified over half of non-native English essays.</a:t>
            </a:r>
          </a:p>
        </p:txBody>
      </p:sp>
      <p:sp>
        <p:nvSpPr>
          <p:cNvPr id="229" name="Cell 6-3"/>
          <p:cNvSpPr txBox="1"/>
          <p:nvPr/>
        </p:nvSpPr>
        <p:spPr>
          <a:xfrm>
            <a:off x="7863840" y="5326165"/>
            <a:ext cx="3017520" cy="520897"/>
          </a:xfrm>
          <a:prstGeom prst="rect">
            <a:avLst/>
          </a:prstGeom>
          <a:noFill/>
        </p:spPr>
        <p:txBody>
          <a:bodyPr wrap="square" lIns="0" tIns="0" rIns="0" bIns="0" anchor="ctr"/>
          <a:lstStyle/>
          <a:p>
            <a:pPr>
              <a:defRPr sz="950">
                <a:solidFill>
                  <a:srgbClr val="3C3C41"/>
                </a:solidFill>
                <a:latin typeface="Mulish"/>
              </a:defRPr>
            </a:pPr>
            <a:r>
              <a:rPr lang="en-US" sz="950">
                <a:solidFill>
                  <a:srgbClr val="3C3C41"/>
                </a:solidFill>
                <a:latin typeface="Mulish"/>
              </a:rPr>
              <a:t>AI-text detection is unreliable and biased against Indian students, so it can't be an integrity check.</a:t>
            </a:r>
          </a:p>
        </p:txBody>
      </p:sp>
      <p:sp>
        <p:nvSpPr>
          <p:cNvPr id="230" name="Row Rule 6"/>
          <p:cNvSpPr/>
          <p:nvPr/>
        </p:nvSpPr>
        <p:spPr>
          <a:xfrm>
            <a:off x="1828800" y="5867062"/>
            <a:ext cx="9052560" cy="63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 name="Cell 7-1"/>
          <p:cNvSpPr txBox="1"/>
          <p:nvPr/>
        </p:nvSpPr>
        <p:spPr>
          <a:xfrm>
            <a:off x="1828800" y="5887062"/>
            <a:ext cx="2286000" cy="520897"/>
          </a:xfrm>
          <a:prstGeom prst="rect">
            <a:avLst/>
          </a:prstGeom>
          <a:noFill/>
        </p:spPr>
        <p:txBody>
          <a:bodyPr wrap="square" lIns="0" tIns="0" rIns="0" bIns="0" anchor="ctr"/>
          <a:lstStyle/>
          <a:p>
            <a:pPr>
              <a:defRPr sz="950" b="1">
                <a:solidFill>
                  <a:srgbClr val="353334"/>
                </a:solidFill>
                <a:latin typeface="Mulish"/>
              </a:defRPr>
            </a:pPr>
            <a:r>
              <a:rPr lang="en-US" sz="950" b="1">
                <a:solidFill>
                  <a:srgbClr val="353334"/>
                </a:solidFill>
                <a:latin typeface="Mulish"/>
              </a:rPr>
              <a:t>UW–Madison OSPO · OpenSSF Scorecard · arXiv 2508.02487 · Dolos</a:t>
            </a:r>
          </a:p>
        </p:txBody>
      </p:sp>
      <p:sp>
        <p:nvSpPr>
          <p:cNvPr id="232" name="Cell 7-2"/>
          <p:cNvSpPr txBox="1"/>
          <p:nvPr/>
        </p:nvSpPr>
        <p:spPr>
          <a:xfrm>
            <a:off x="4206240" y="5887062"/>
            <a:ext cx="3566160" cy="520897"/>
          </a:xfrm>
          <a:prstGeom prst="rect">
            <a:avLst/>
          </a:prstGeom>
          <a:noFill/>
        </p:spPr>
        <p:txBody>
          <a:bodyPr wrap="square" lIns="0" tIns="0" rIns="0" bIns="0" anchor="ctr"/>
          <a:lstStyle/>
          <a:p>
            <a:pPr>
              <a:defRPr sz="950">
                <a:solidFill>
                  <a:srgbClr val="3C3C41"/>
                </a:solidFill>
                <a:latin typeface="Mulish"/>
              </a:defRPr>
            </a:pPr>
            <a:r>
              <a:rPr lang="en-US" sz="950">
                <a:solidFill>
                  <a:srgbClr val="3C3C41"/>
                </a:solidFill>
                <a:latin typeface="Mulish"/>
              </a:rPr>
              <a:t>Published signals: repo hygiene, CI and tests, commit consistency (CV threshold 0.5), winnowing-based code similarity.</a:t>
            </a:r>
          </a:p>
        </p:txBody>
      </p:sp>
      <p:sp>
        <p:nvSpPr>
          <p:cNvPr id="233" name="Cell 7-3"/>
          <p:cNvSpPr txBox="1"/>
          <p:nvPr/>
        </p:nvSpPr>
        <p:spPr>
          <a:xfrm>
            <a:off x="7863840" y="5887062"/>
            <a:ext cx="3017520" cy="520897"/>
          </a:xfrm>
          <a:prstGeom prst="rect">
            <a:avLst/>
          </a:prstGeom>
          <a:noFill/>
        </p:spPr>
        <p:txBody>
          <a:bodyPr wrap="square" lIns="0" tIns="0" rIns="0" bIns="0" anchor="ctr"/>
          <a:lstStyle/>
          <a:p>
            <a:pPr>
              <a:defRPr sz="950">
                <a:solidFill>
                  <a:srgbClr val="3C3C41"/>
                </a:solidFill>
                <a:latin typeface="Mulish"/>
              </a:defRPr>
            </a:pPr>
            <a:r>
              <a:rPr lang="en-US" sz="950">
                <a:solidFill>
                  <a:srgbClr val="3C3C41"/>
                </a:solidFill>
                <a:latin typeface="Mulish"/>
              </a:rPr>
              <a:t>Never validated against hiring outcomes; no off-the-shelf tutorial-clone detector exists.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82880" y="1051560"/>
            <a:ext cx="1051560" cy="329184"/>
          </a:xfrm>
          <a:prstGeom prst="roundRect">
            <a:avLst>
              <a:gd name="adj" fmla="val 50000"/>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82880" y="1453896"/>
            <a:ext cx="1463040" cy="329184"/>
          </a:xfrm>
          <a:prstGeom prst="roundRect">
            <a:avLst>
              <a:gd name="adj" fmla="val 50000"/>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82880" y="1856232"/>
            <a:ext cx="1051560" cy="329184"/>
          </a:xfrm>
          <a:prstGeom prst="roundRect">
            <a:avLst>
              <a:gd name="adj" fmla="val 50000"/>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0" y="5486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521440" y="7132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521440" y="8778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521440" y="10424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55778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57424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59070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60716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087100" y="5934075"/>
            <a:ext cx="32004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237595" y="5783580"/>
            <a:ext cx="19050" cy="32004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192256" y="5888736"/>
            <a:ext cx="109728" cy="109728"/>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rc 16"/>
          <p:cNvSpPr/>
          <p:nvPr/>
        </p:nvSpPr>
        <p:spPr>
          <a:xfrm>
            <a:off x="8412480" y="640080"/>
            <a:ext cx="1005840" cy="822960"/>
          </a:xfrm>
          <a:prstGeom prst="arc">
            <a:avLst/>
          </a:prstGeom>
          <a:noFill/>
          <a:ln w="19050">
            <a:solidFill>
              <a:srgbClr val="079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371332" y="101041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77172" y="59893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45920" y="384048"/>
            <a:ext cx="8229600" cy="274320"/>
          </a:xfrm>
          <a:prstGeom prst="rect">
            <a:avLst/>
          </a:prstGeom>
          <a:noFill/>
        </p:spPr>
        <p:txBody>
          <a:bodyPr wrap="none" lIns="0" tIns="0" rIns="0" bIns="0">
            <a:spAutoFit/>
          </a:bodyPr>
          <a:lstStyle/>
          <a:p>
            <a:pPr>
              <a:defRPr sz="1050" b="1">
                <a:solidFill>
                  <a:srgbClr val="353334"/>
                </a:solidFill>
                <a:latin typeface="Mulish"/>
              </a:defRPr>
            </a:pPr>
            <a:r>
              <a:t>DATAQUEST 3.0  ·  ROUND 1</a:t>
            </a:r>
          </a:p>
        </p:txBody>
      </p:sp>
      <p:sp>
        <p:nvSpPr>
          <p:cNvPr id="21" name="TextBox 20"/>
          <p:cNvSpPr txBox="1"/>
          <p:nvPr/>
        </p:nvSpPr>
        <p:spPr>
          <a:xfrm>
            <a:off x="1645920" y="621792"/>
            <a:ext cx="9144000" cy="553998"/>
          </a:xfrm>
          <a:prstGeom prst="rect">
            <a:avLst/>
          </a:prstGeom>
          <a:noFill/>
        </p:spPr>
        <p:txBody>
          <a:bodyPr wrap="square" lIns="0" tIns="0" rIns="0" bIns="0" anchor="t">
            <a:spAutoFit/>
          </a:bodyPr>
          <a:lstStyle/>
          <a:p>
            <a:r>
              <a:rPr lang="en-US" sz="3600" b="1" dirty="0">
                <a:solidFill>
                  <a:srgbClr val="FD1485"/>
                </a:solidFill>
                <a:latin typeface="Fjalla One"/>
              </a:rPr>
              <a:t>09  </a:t>
            </a:r>
            <a:r>
              <a:rPr sz="3200" b="1" dirty="0">
                <a:solidFill>
                  <a:srgbClr val="353334"/>
                </a:solidFill>
                <a:latin typeface="Fjalla One"/>
              </a:rPr>
              <a:t>Gaps &amp; How We Fix Them</a:t>
            </a:r>
          </a:p>
        </p:txBody>
      </p:sp>
      <p:sp>
        <p:nvSpPr>
          <p:cNvPr id="22" name="Rectangle 21"/>
          <p:cNvSpPr/>
          <p:nvPr/>
        </p:nvSpPr>
        <p:spPr>
          <a:xfrm>
            <a:off x="1645920" y="1444752"/>
            <a:ext cx="941832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 y="1517904"/>
            <a:ext cx="9418320" cy="320040"/>
          </a:xfrm>
          <a:prstGeom prst="rect">
            <a:avLst/>
          </a:prstGeom>
          <a:noFill/>
        </p:spPr>
        <p:txBody>
          <a:bodyPr wrap="none" lIns="0" tIns="0" rIns="0" bIns="0">
            <a:spAutoFit/>
          </a:bodyPr>
          <a:lstStyle/>
          <a:p>
            <a:pPr>
              <a:defRPr sz="1100">
                <a:solidFill>
                  <a:srgbClr val="6E6E73"/>
                </a:solidFill>
                <a:latin typeface="Mulish"/>
              </a:defRPr>
            </a:pPr>
            <a:r>
              <a:t>Each gap from the survey · What CareerLens does about it · Where it appears</a:t>
            </a:r>
          </a:p>
        </p:txBody>
      </p:sp>
      <p:sp>
        <p:nvSpPr>
          <p:cNvPr id="234" name="Survey Card"/>
          <p:cNvSpPr/>
          <p:nvPr/>
        </p:nvSpPr>
        <p:spPr>
          <a:xfrm>
            <a:off x="1645920" y="2011680"/>
            <a:ext cx="9418320" cy="452628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 name="Survey Pill"/>
          <p:cNvSpPr/>
          <p:nvPr/>
        </p:nvSpPr>
        <p:spPr>
          <a:xfrm>
            <a:off x="1965960" y="1883664"/>
            <a:ext cx="1600200" cy="256032"/>
          </a:xfrm>
          <a:prstGeom prst="roundRect">
            <a:avLst>
              <a:gd name="adj" fmla="val 50000"/>
            </a:avLst>
          </a:prstGeom>
          <a:solidFill>
            <a:srgbClr val="FD1485"/>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defRPr>
            </a:pPr>
            <a:r>
              <a:t>GAPS → OUR FIX</a:t>
            </a:r>
          </a:p>
        </p:txBody>
      </p:sp>
      <p:sp>
        <p:nvSpPr>
          <p:cNvPr id="236" name="Col Head 1"/>
          <p:cNvSpPr txBox="1"/>
          <p:nvPr/>
        </p:nvSpPr>
        <p:spPr>
          <a:xfrm>
            <a:off x="1828800" y="2201680"/>
            <a:ext cx="2651760" cy="230000"/>
          </a:xfrm>
          <a:prstGeom prst="rect">
            <a:avLst/>
          </a:prstGeom>
          <a:noFill/>
        </p:spPr>
        <p:txBody>
          <a:bodyPr wrap="square" lIns="0" tIns="0" rIns="0" bIns="0" anchor="ctr"/>
          <a:lstStyle/>
          <a:p>
            <a:pPr>
              <a:defRPr sz="1100" b="1">
                <a:solidFill>
                  <a:srgbClr val="FD1485"/>
                </a:solidFill>
                <a:latin typeface="Fjalla One"/>
              </a:defRPr>
            </a:pPr>
            <a:r>
              <a:rPr lang="en-US" sz="1100" b="1">
                <a:solidFill>
                  <a:srgbClr val="FD1485"/>
                </a:solidFill>
                <a:latin typeface="Fjalla One"/>
              </a:rPr>
              <a:t>GAP IDENTIFIED</a:t>
            </a:r>
          </a:p>
        </p:txBody>
      </p:sp>
      <p:sp>
        <p:nvSpPr>
          <p:cNvPr id="237" name="Col Head 2"/>
          <p:cNvSpPr txBox="1"/>
          <p:nvPr/>
        </p:nvSpPr>
        <p:spPr>
          <a:xfrm>
            <a:off x="4572000" y="2201680"/>
            <a:ext cx="4114800" cy="230000"/>
          </a:xfrm>
          <a:prstGeom prst="rect">
            <a:avLst/>
          </a:prstGeom>
          <a:noFill/>
        </p:spPr>
        <p:txBody>
          <a:bodyPr wrap="square" lIns="0" tIns="0" rIns="0" bIns="0" anchor="ctr"/>
          <a:lstStyle/>
          <a:p>
            <a:pPr>
              <a:defRPr sz="1100" b="1">
                <a:solidFill>
                  <a:srgbClr val="353334"/>
                </a:solidFill>
                <a:latin typeface="Fjalla One"/>
              </a:defRPr>
            </a:pPr>
            <a:r>
              <a:rPr lang="en-US" sz="1100" b="1">
                <a:solidFill>
                  <a:srgbClr val="353334"/>
                </a:solidFill>
                <a:latin typeface="Fjalla One"/>
              </a:rPr>
              <a:t>WHAT CAREERLENS DOES</a:t>
            </a:r>
          </a:p>
        </p:txBody>
      </p:sp>
      <p:sp>
        <p:nvSpPr>
          <p:cNvPr id="238" name="Col Head 3"/>
          <p:cNvSpPr txBox="1"/>
          <p:nvPr/>
        </p:nvSpPr>
        <p:spPr>
          <a:xfrm>
            <a:off x="8778240" y="2201680"/>
            <a:ext cx="2103120" cy="230000"/>
          </a:xfrm>
          <a:prstGeom prst="rect">
            <a:avLst/>
          </a:prstGeom>
          <a:noFill/>
        </p:spPr>
        <p:txBody>
          <a:bodyPr wrap="square" lIns="0" tIns="0" rIns="0" bIns="0" anchor="ctr"/>
          <a:lstStyle/>
          <a:p>
            <a:pPr>
              <a:defRPr sz="1100" b="1">
                <a:solidFill>
                  <a:srgbClr val="079ED2"/>
                </a:solidFill>
                <a:latin typeface="Fjalla One"/>
              </a:defRPr>
            </a:pPr>
            <a:r>
              <a:rPr lang="en-US" sz="1100" b="1">
                <a:solidFill>
                  <a:srgbClr val="079ED2"/>
                </a:solidFill>
                <a:latin typeface="Fjalla One"/>
              </a:rPr>
              <a:t>WHERE IT SHOWS UP</a:t>
            </a:r>
          </a:p>
        </p:txBody>
      </p:sp>
      <p:sp>
        <p:nvSpPr>
          <p:cNvPr id="239" name="Head Rule"/>
          <p:cNvSpPr/>
          <p:nvPr/>
        </p:nvSpPr>
        <p:spPr>
          <a:xfrm>
            <a:off x="1828800" y="2461680"/>
            <a:ext cx="9052560" cy="1270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 name="Cell 1-1"/>
          <p:cNvSpPr txBox="1"/>
          <p:nvPr/>
        </p:nvSpPr>
        <p:spPr>
          <a:xfrm>
            <a:off x="1828800" y="2521680"/>
            <a:ext cx="2651760" cy="520897"/>
          </a:xfrm>
          <a:prstGeom prst="rect">
            <a:avLst/>
          </a:prstGeom>
          <a:noFill/>
        </p:spPr>
        <p:txBody>
          <a:bodyPr wrap="square" lIns="0" tIns="0" rIns="0" bIns="0" anchor="ctr"/>
          <a:lstStyle/>
          <a:p>
            <a:pPr>
              <a:defRPr sz="950" b="1">
                <a:solidFill>
                  <a:srgbClr val="353334"/>
                </a:solidFill>
                <a:latin typeface="Mulish"/>
              </a:defRPr>
            </a:pPr>
            <a:r>
              <a:rPr lang="en-US" sz="950" b="1">
                <a:solidFill>
                  <a:srgbClr val="353334"/>
                </a:solidFill>
                <a:latin typeface="Mulish"/>
              </a:rPr>
              <a:t>Skill claims are never checked against real work</a:t>
            </a:r>
          </a:p>
        </p:txBody>
      </p:sp>
      <p:sp>
        <p:nvSpPr>
          <p:cNvPr id="241" name="Cell 1-2"/>
          <p:cNvSpPr txBox="1"/>
          <p:nvPr/>
        </p:nvSpPr>
        <p:spPr>
          <a:xfrm>
            <a:off x="4572000" y="2521680"/>
            <a:ext cx="4114800" cy="520897"/>
          </a:xfrm>
          <a:prstGeom prst="rect">
            <a:avLst/>
          </a:prstGeom>
          <a:noFill/>
        </p:spPr>
        <p:txBody>
          <a:bodyPr wrap="square" lIns="0" tIns="0" rIns="0" bIns="0" anchor="ctr"/>
          <a:lstStyle/>
          <a:p>
            <a:pPr>
              <a:defRPr sz="950">
                <a:solidFill>
                  <a:srgbClr val="3C3C41"/>
                </a:solidFill>
                <a:latin typeface="Mulish"/>
              </a:defRPr>
            </a:pPr>
            <a:r>
              <a:rPr lang="en-US" sz="950">
                <a:solidFill>
                  <a:srgbClr val="3C3C41"/>
                </a:solidFill>
                <a:latin typeface="Mulish"/>
              </a:rPr>
              <a:t>Claim verification: every resume skill is labelled strong, moderate, weak or unverified with a repo or commit proof link and a one-line reason.</a:t>
            </a:r>
          </a:p>
        </p:txBody>
      </p:sp>
      <p:sp>
        <p:nvSpPr>
          <p:cNvPr id="242" name="Cell 1-3"/>
          <p:cNvSpPr txBox="1"/>
          <p:nvPr/>
        </p:nvSpPr>
        <p:spPr>
          <a:xfrm>
            <a:off x="8778240" y="2521680"/>
            <a:ext cx="2103120" cy="520897"/>
          </a:xfrm>
          <a:prstGeom prst="rect">
            <a:avLst/>
          </a:prstGeom>
          <a:noFill/>
        </p:spPr>
        <p:txBody>
          <a:bodyPr wrap="square" lIns="0" tIns="0" rIns="0" bIns="0" anchor="ctr"/>
          <a:lstStyle/>
          <a:p>
            <a:pPr>
              <a:defRPr sz="950">
                <a:solidFill>
                  <a:srgbClr val="3C3C41"/>
                </a:solidFill>
                <a:latin typeface="Mulish"/>
              </a:defRPr>
            </a:pPr>
            <a:r>
              <a:rPr lang="en-US" sz="950">
                <a:solidFill>
                  <a:srgbClr val="3C3C41"/>
                </a:solidFill>
                <a:latin typeface="Mulish"/>
              </a:rPr>
              <a:t>P0 · Per-claim proof links</a:t>
            </a:r>
          </a:p>
        </p:txBody>
      </p:sp>
      <p:sp>
        <p:nvSpPr>
          <p:cNvPr id="243" name="Row Rule 1"/>
          <p:cNvSpPr/>
          <p:nvPr/>
        </p:nvSpPr>
        <p:spPr>
          <a:xfrm>
            <a:off x="1828800" y="3062577"/>
            <a:ext cx="9052560" cy="63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 name="Cell 2-1"/>
          <p:cNvSpPr txBox="1"/>
          <p:nvPr/>
        </p:nvSpPr>
        <p:spPr>
          <a:xfrm>
            <a:off x="1828800" y="3082577"/>
            <a:ext cx="2651760" cy="520897"/>
          </a:xfrm>
          <a:prstGeom prst="rect">
            <a:avLst/>
          </a:prstGeom>
          <a:noFill/>
        </p:spPr>
        <p:txBody>
          <a:bodyPr wrap="square" lIns="0" tIns="0" rIns="0" bIns="0" anchor="ctr"/>
          <a:lstStyle/>
          <a:p>
            <a:pPr>
              <a:defRPr sz="950" b="1">
                <a:solidFill>
                  <a:srgbClr val="353334"/>
                </a:solidFill>
                <a:latin typeface="Mulish"/>
              </a:defRPr>
            </a:pPr>
            <a:r>
              <a:rPr lang="en-US" sz="950" b="1">
                <a:solidFill>
                  <a:srgbClr val="353334"/>
                </a:solidFill>
                <a:latin typeface="Mulish"/>
              </a:rPr>
              <a:t>Scores are opaque, and AI tailoring invents facts</a:t>
            </a:r>
          </a:p>
        </p:txBody>
      </p:sp>
      <p:sp>
        <p:nvSpPr>
          <p:cNvPr id="245" name="Cell 2-2"/>
          <p:cNvSpPr txBox="1"/>
          <p:nvPr/>
        </p:nvSpPr>
        <p:spPr>
          <a:xfrm>
            <a:off x="4572000" y="3082577"/>
            <a:ext cx="4114800" cy="520897"/>
          </a:xfrm>
          <a:prstGeom prst="rect">
            <a:avLst/>
          </a:prstGeom>
          <a:noFill/>
        </p:spPr>
        <p:txBody>
          <a:bodyPr wrap="square" lIns="0" tIns="0" rIns="0" bIns="0" anchor="ctr"/>
          <a:lstStyle/>
          <a:p>
            <a:pPr>
              <a:defRPr sz="950">
                <a:solidFill>
                  <a:srgbClr val="3C3C41"/>
                </a:solidFill>
                <a:latin typeface="Mulish"/>
              </a:defRPr>
            </a:pPr>
            <a:r>
              <a:rPr lang="en-US" sz="950">
                <a:solidFill>
                  <a:srgbClr val="3C3C41"/>
                </a:solidFill>
                <a:latin typeface="Mulish"/>
              </a:rPr>
              <a:t>Deterministic 0–100 score from published signals with a component breakdown. The LLM only extracts and judges; tailoring may reorder verified claims only.</a:t>
            </a:r>
          </a:p>
        </p:txBody>
      </p:sp>
      <p:sp>
        <p:nvSpPr>
          <p:cNvPr id="246" name="Cell 2-3"/>
          <p:cNvSpPr txBox="1"/>
          <p:nvPr/>
        </p:nvSpPr>
        <p:spPr>
          <a:xfrm>
            <a:off x="8778240" y="3082577"/>
            <a:ext cx="2103120" cy="520897"/>
          </a:xfrm>
          <a:prstGeom prst="rect">
            <a:avLst/>
          </a:prstGeom>
          <a:noFill/>
        </p:spPr>
        <p:txBody>
          <a:bodyPr wrap="square" lIns="0" tIns="0" rIns="0" bIns="0" anchor="ctr"/>
          <a:lstStyle/>
          <a:p>
            <a:pPr>
              <a:defRPr sz="950">
                <a:solidFill>
                  <a:srgbClr val="3C3C41"/>
                </a:solidFill>
                <a:latin typeface="Mulish"/>
              </a:defRPr>
            </a:pPr>
            <a:r>
              <a:rPr lang="en-US" sz="950">
                <a:solidFill>
                  <a:srgbClr val="3C3C41"/>
                </a:solidFill>
                <a:latin typeface="Mulish"/>
              </a:rPr>
              <a:t>P0 · Score breakdown</a:t>
            </a:r>
          </a:p>
        </p:txBody>
      </p:sp>
      <p:sp>
        <p:nvSpPr>
          <p:cNvPr id="247" name="Row Rule 2"/>
          <p:cNvSpPr/>
          <p:nvPr/>
        </p:nvSpPr>
        <p:spPr>
          <a:xfrm>
            <a:off x="1828800" y="3623474"/>
            <a:ext cx="9052560" cy="63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 name="Cell 3-1"/>
          <p:cNvSpPr txBox="1"/>
          <p:nvPr/>
        </p:nvSpPr>
        <p:spPr>
          <a:xfrm>
            <a:off x="1828800" y="3643474"/>
            <a:ext cx="2651760" cy="520897"/>
          </a:xfrm>
          <a:prstGeom prst="rect">
            <a:avLst/>
          </a:prstGeom>
          <a:noFill/>
        </p:spPr>
        <p:txBody>
          <a:bodyPr wrap="square" lIns="0" tIns="0" rIns="0" bIns="0" anchor="ctr"/>
          <a:lstStyle/>
          <a:p>
            <a:pPr>
              <a:defRPr sz="950" b="1">
                <a:solidFill>
                  <a:srgbClr val="353334"/>
                </a:solidFill>
                <a:latin typeface="Mulish"/>
              </a:defRPr>
            </a:pPr>
            <a:r>
              <a:rPr lang="en-US" sz="950" b="1">
                <a:solidFill>
                  <a:srgbClr val="353334"/>
                </a:solidFill>
                <a:latin typeface="Mulish"/>
              </a:rPr>
              <a:t>Evidence is code-only and one-off</a:t>
            </a:r>
          </a:p>
        </p:txBody>
      </p:sp>
      <p:sp>
        <p:nvSpPr>
          <p:cNvPr id="249" name="Cell 3-2"/>
          <p:cNvSpPr txBox="1"/>
          <p:nvPr/>
        </p:nvSpPr>
        <p:spPr>
          <a:xfrm>
            <a:off x="4572000" y="3643474"/>
            <a:ext cx="4114800" cy="520897"/>
          </a:xfrm>
          <a:prstGeom prst="rect">
            <a:avLst/>
          </a:prstGeom>
          <a:noFill/>
        </p:spPr>
        <p:txBody>
          <a:bodyPr wrap="square" lIns="0" tIns="0" rIns="0" bIns="0" anchor="ctr"/>
          <a:lstStyle/>
          <a:p>
            <a:pPr>
              <a:defRPr sz="950">
                <a:solidFill>
                  <a:srgbClr val="3C3C41"/>
                </a:solidFill>
                <a:latin typeface="Mulish"/>
              </a:defRPr>
            </a:pPr>
            <a:r>
              <a:rPr lang="en-US" sz="950">
                <a:solidFill>
                  <a:srgbClr val="3C3C41"/>
                </a:solidFill>
                <a:latin typeface="Mulish"/>
              </a:rPr>
              <a:t>Link-based design-portfolio evidence (weighted lower and labelled); commit cadence from the contribution calendar; re-scan history shows progress.</a:t>
            </a:r>
          </a:p>
        </p:txBody>
      </p:sp>
      <p:sp>
        <p:nvSpPr>
          <p:cNvPr id="250" name="Cell 3-3"/>
          <p:cNvSpPr txBox="1"/>
          <p:nvPr/>
        </p:nvSpPr>
        <p:spPr>
          <a:xfrm>
            <a:off x="8778240" y="3643474"/>
            <a:ext cx="2103120" cy="520897"/>
          </a:xfrm>
          <a:prstGeom prst="rect">
            <a:avLst/>
          </a:prstGeom>
          <a:noFill/>
        </p:spPr>
        <p:txBody>
          <a:bodyPr wrap="square" lIns="0" tIns="0" rIns="0" bIns="0" anchor="ctr"/>
          <a:lstStyle/>
          <a:p>
            <a:pPr>
              <a:defRPr sz="950">
                <a:solidFill>
                  <a:srgbClr val="3C3C41"/>
                </a:solidFill>
                <a:latin typeface="Mulish"/>
              </a:defRPr>
            </a:pPr>
            <a:r>
              <a:rPr lang="en-US" sz="950">
                <a:solidFill>
                  <a:srgbClr val="3C3C41"/>
                </a:solidFill>
                <a:latin typeface="Mulish"/>
              </a:rPr>
              <a:t>P0/P1 · Design + consistency</a:t>
            </a:r>
          </a:p>
        </p:txBody>
      </p:sp>
      <p:sp>
        <p:nvSpPr>
          <p:cNvPr id="251" name="Row Rule 3"/>
          <p:cNvSpPr/>
          <p:nvPr/>
        </p:nvSpPr>
        <p:spPr>
          <a:xfrm>
            <a:off x="1828800" y="4184371"/>
            <a:ext cx="9052560" cy="63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 name="Cell 4-1"/>
          <p:cNvSpPr txBox="1"/>
          <p:nvPr/>
        </p:nvSpPr>
        <p:spPr>
          <a:xfrm>
            <a:off x="1828800" y="4204371"/>
            <a:ext cx="2651760" cy="520897"/>
          </a:xfrm>
          <a:prstGeom prst="rect">
            <a:avLst/>
          </a:prstGeom>
          <a:noFill/>
        </p:spPr>
        <p:txBody>
          <a:bodyPr wrap="square" lIns="0" tIns="0" rIns="0" bIns="0" anchor="ctr"/>
          <a:lstStyle/>
          <a:p>
            <a:pPr>
              <a:defRPr sz="950" b="1">
                <a:solidFill>
                  <a:srgbClr val="353334"/>
                </a:solidFill>
                <a:latin typeface="Mulish"/>
              </a:defRPr>
            </a:pPr>
            <a:r>
              <a:rPr lang="en-US" sz="950" b="1">
                <a:solidFill>
                  <a:srgbClr val="353334"/>
                </a:solidFill>
                <a:latin typeface="Mulish"/>
              </a:rPr>
              <a:t>Placement dashboards measure tests, not proof</a:t>
            </a:r>
          </a:p>
        </p:txBody>
      </p:sp>
      <p:sp>
        <p:nvSpPr>
          <p:cNvPr id="253" name="Cell 4-2"/>
          <p:cNvSpPr txBox="1"/>
          <p:nvPr/>
        </p:nvSpPr>
        <p:spPr>
          <a:xfrm>
            <a:off x="4572000" y="4204371"/>
            <a:ext cx="4114800" cy="520897"/>
          </a:xfrm>
          <a:prstGeom prst="rect">
            <a:avLst/>
          </a:prstGeom>
          <a:noFill/>
        </p:spPr>
        <p:txBody>
          <a:bodyPr wrap="square" lIns="0" tIns="0" rIns="0" bIns="0" anchor="ctr"/>
          <a:lstStyle/>
          <a:p>
            <a:pPr>
              <a:defRPr sz="950">
                <a:solidFill>
                  <a:srgbClr val="3C3C41"/>
                </a:solidFill>
                <a:latin typeface="Mulish"/>
              </a:defRPr>
            </a:pPr>
            <a:r>
              <a:rPr lang="en-US" sz="950">
                <a:solidFill>
                  <a:srgbClr val="3C3C41"/>
                </a:solidFill>
                <a:latin typeface="Mulish"/>
              </a:rPr>
              <a:t>Cohort Insights: readiness distribution, top missing skills, unverified-claim rate per skill, at-risk list and CSV export.</a:t>
            </a:r>
          </a:p>
        </p:txBody>
      </p:sp>
      <p:sp>
        <p:nvSpPr>
          <p:cNvPr id="254" name="Cell 4-3"/>
          <p:cNvSpPr txBox="1"/>
          <p:nvPr/>
        </p:nvSpPr>
        <p:spPr>
          <a:xfrm>
            <a:off x="8778240" y="4204371"/>
            <a:ext cx="2103120" cy="520897"/>
          </a:xfrm>
          <a:prstGeom prst="rect">
            <a:avLst/>
          </a:prstGeom>
          <a:noFill/>
        </p:spPr>
        <p:txBody>
          <a:bodyPr wrap="square" lIns="0" tIns="0" rIns="0" bIns="0" anchor="ctr"/>
          <a:lstStyle/>
          <a:p>
            <a:pPr>
              <a:defRPr sz="950">
                <a:solidFill>
                  <a:srgbClr val="3C3C41"/>
                </a:solidFill>
                <a:latin typeface="Mulish"/>
              </a:defRPr>
            </a:pPr>
            <a:r>
              <a:rPr lang="en-US" sz="950">
                <a:solidFill>
                  <a:srgbClr val="3C3C41"/>
                </a:solidFill>
                <a:latin typeface="Mulish"/>
              </a:rPr>
              <a:t>P0 · Cohort Insights</a:t>
            </a:r>
          </a:p>
        </p:txBody>
      </p:sp>
      <p:sp>
        <p:nvSpPr>
          <p:cNvPr id="255" name="Row Rule 4"/>
          <p:cNvSpPr/>
          <p:nvPr/>
        </p:nvSpPr>
        <p:spPr>
          <a:xfrm>
            <a:off x="1828800" y="4745268"/>
            <a:ext cx="9052560" cy="63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 name="Cell 5-1"/>
          <p:cNvSpPr txBox="1"/>
          <p:nvPr/>
        </p:nvSpPr>
        <p:spPr>
          <a:xfrm>
            <a:off x="1828800" y="4765268"/>
            <a:ext cx="2651760" cy="520897"/>
          </a:xfrm>
          <a:prstGeom prst="rect">
            <a:avLst/>
          </a:prstGeom>
          <a:noFill/>
        </p:spPr>
        <p:txBody>
          <a:bodyPr wrap="square" lIns="0" tIns="0" rIns="0" bIns="0" anchor="ctr"/>
          <a:lstStyle/>
          <a:p>
            <a:pPr>
              <a:defRPr sz="950" b="1">
                <a:solidFill>
                  <a:srgbClr val="353334"/>
                </a:solidFill>
                <a:latin typeface="Mulish"/>
              </a:defRPr>
            </a:pPr>
            <a:r>
              <a:rPr lang="en-US" sz="950" b="1">
                <a:solidFill>
                  <a:srgbClr val="353334"/>
                </a:solidFill>
                <a:latin typeface="Mulish"/>
              </a:rPr>
              <a:t>AI-text detection is unreliable and biased</a:t>
            </a:r>
          </a:p>
        </p:txBody>
      </p:sp>
      <p:sp>
        <p:nvSpPr>
          <p:cNvPr id="257" name="Cell 5-2"/>
          <p:cNvSpPr txBox="1"/>
          <p:nvPr/>
        </p:nvSpPr>
        <p:spPr>
          <a:xfrm>
            <a:off x="4572000" y="4765268"/>
            <a:ext cx="4114800" cy="520897"/>
          </a:xfrm>
          <a:prstGeom prst="rect">
            <a:avLst/>
          </a:prstGeom>
          <a:noFill/>
        </p:spPr>
        <p:txBody>
          <a:bodyPr wrap="square" lIns="0" tIns="0" rIns="0" bIns="0" anchor="ctr"/>
          <a:lstStyle/>
          <a:p>
            <a:pPr>
              <a:defRPr sz="950">
                <a:solidFill>
                  <a:srgbClr val="3C3C41"/>
                </a:solidFill>
                <a:latin typeface="Mulish"/>
              </a:defRPr>
            </a:pPr>
            <a:r>
              <a:rPr lang="en-US" sz="950">
                <a:solidFill>
                  <a:srgbClr val="3C3C41"/>
                </a:solidFill>
                <a:latin typeface="Mulish"/>
              </a:rPr>
              <a:t>We never label writing as AI-generated. We flag low-evidence projects (single-commit dumps, unmodified forks) and say how to fix them.</a:t>
            </a:r>
          </a:p>
        </p:txBody>
      </p:sp>
      <p:sp>
        <p:nvSpPr>
          <p:cNvPr id="258" name="Cell 5-3"/>
          <p:cNvSpPr txBox="1"/>
          <p:nvPr/>
        </p:nvSpPr>
        <p:spPr>
          <a:xfrm>
            <a:off x="8778240" y="4765268"/>
            <a:ext cx="2103120" cy="520897"/>
          </a:xfrm>
          <a:prstGeom prst="rect">
            <a:avLst/>
          </a:prstGeom>
          <a:noFill/>
        </p:spPr>
        <p:txBody>
          <a:bodyPr wrap="square" lIns="0" tIns="0" rIns="0" bIns="0" anchor="ctr"/>
          <a:lstStyle/>
          <a:p>
            <a:pPr>
              <a:defRPr sz="950">
                <a:solidFill>
                  <a:srgbClr val="3C3C41"/>
                </a:solidFill>
                <a:latin typeface="Mulish"/>
              </a:defRPr>
            </a:pPr>
            <a:r>
              <a:rPr lang="en-US" sz="950">
                <a:solidFill>
                  <a:srgbClr val="3C3C41"/>
                </a:solidFill>
                <a:latin typeface="Mulish"/>
              </a:rPr>
              <a:t>P1 · Low-evidence flags</a:t>
            </a:r>
          </a:p>
        </p:txBody>
      </p:sp>
      <p:sp>
        <p:nvSpPr>
          <p:cNvPr id="259" name="Row Rule 5"/>
          <p:cNvSpPr/>
          <p:nvPr/>
        </p:nvSpPr>
        <p:spPr>
          <a:xfrm>
            <a:off x="1828800" y="5306165"/>
            <a:ext cx="9052560" cy="63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 name="Cell 6-1"/>
          <p:cNvSpPr txBox="1"/>
          <p:nvPr/>
        </p:nvSpPr>
        <p:spPr>
          <a:xfrm>
            <a:off x="1828800" y="5326165"/>
            <a:ext cx="2651760" cy="520897"/>
          </a:xfrm>
          <a:prstGeom prst="rect">
            <a:avLst/>
          </a:prstGeom>
          <a:noFill/>
        </p:spPr>
        <p:txBody>
          <a:bodyPr wrap="square" lIns="0" tIns="0" rIns="0" bIns="0" anchor="ctr"/>
          <a:lstStyle/>
          <a:p>
            <a:pPr>
              <a:defRPr sz="950" b="1">
                <a:solidFill>
                  <a:srgbClr val="353334"/>
                </a:solidFill>
                <a:latin typeface="Mulish"/>
              </a:defRPr>
            </a:pPr>
            <a:r>
              <a:rPr lang="en-US" sz="950" b="1">
                <a:solidFill>
                  <a:srgbClr val="353334"/>
                </a:solidFill>
                <a:latin typeface="Mulish"/>
              </a:rPr>
              <a:t>Closed APIs, shrinking free quotas, free-tier data use</a:t>
            </a:r>
          </a:p>
        </p:txBody>
      </p:sp>
      <p:sp>
        <p:nvSpPr>
          <p:cNvPr id="261" name="Cell 6-2"/>
          <p:cNvSpPr txBox="1"/>
          <p:nvPr/>
        </p:nvSpPr>
        <p:spPr>
          <a:xfrm>
            <a:off x="4572000" y="5326165"/>
            <a:ext cx="4114800" cy="520897"/>
          </a:xfrm>
          <a:prstGeom prst="rect">
            <a:avLst/>
          </a:prstGeom>
          <a:noFill/>
        </p:spPr>
        <p:txBody>
          <a:bodyPr wrap="square" lIns="0" tIns="0" rIns="0" bIns="0" anchor="ctr"/>
          <a:lstStyle/>
          <a:p>
            <a:pPr>
              <a:defRPr sz="950">
                <a:solidFill>
                  <a:srgbClr val="3C3C41"/>
                </a:solidFill>
                <a:latin typeface="Mulish"/>
              </a:defRPr>
            </a:pPr>
            <a:r>
              <a:rPr lang="en-US" sz="950">
                <a:solidFill>
                  <a:srgbClr val="3C3C41"/>
                </a:solidFill>
                <a:latin typeface="Mulish"/>
              </a:rPr>
              <a:t>Gemini to Groq to Ollama gateway with cached calls; user-supplied LinkedIn PDF export; PII stripped before any LLM call; synthetic demo data.</a:t>
            </a:r>
          </a:p>
        </p:txBody>
      </p:sp>
      <p:sp>
        <p:nvSpPr>
          <p:cNvPr id="262" name="Cell 6-3"/>
          <p:cNvSpPr txBox="1"/>
          <p:nvPr/>
        </p:nvSpPr>
        <p:spPr>
          <a:xfrm>
            <a:off x="8778240" y="5326165"/>
            <a:ext cx="2103120" cy="520897"/>
          </a:xfrm>
          <a:prstGeom prst="rect">
            <a:avLst/>
          </a:prstGeom>
          <a:noFill/>
        </p:spPr>
        <p:txBody>
          <a:bodyPr wrap="square" lIns="0" tIns="0" rIns="0" bIns="0" anchor="ctr"/>
          <a:lstStyle/>
          <a:p>
            <a:pPr>
              <a:defRPr sz="950">
                <a:solidFill>
                  <a:srgbClr val="3C3C41"/>
                </a:solidFill>
                <a:latin typeface="Mulish"/>
              </a:defRPr>
            </a:pPr>
            <a:r>
              <a:rPr lang="en-US" sz="950">
                <a:solidFill>
                  <a:srgbClr val="3C3C41"/>
                </a:solidFill>
                <a:latin typeface="Mulish"/>
              </a:rPr>
              <a:t>Architecture · LLM gateway</a:t>
            </a:r>
          </a:p>
        </p:txBody>
      </p:sp>
      <p:sp>
        <p:nvSpPr>
          <p:cNvPr id="263" name="Row Rule 6"/>
          <p:cNvSpPr/>
          <p:nvPr/>
        </p:nvSpPr>
        <p:spPr>
          <a:xfrm>
            <a:off x="1828800" y="5867062"/>
            <a:ext cx="9052560" cy="63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Cell 7-1"/>
          <p:cNvSpPr txBox="1"/>
          <p:nvPr/>
        </p:nvSpPr>
        <p:spPr>
          <a:xfrm>
            <a:off x="1828800" y="5887062"/>
            <a:ext cx="2651760" cy="520897"/>
          </a:xfrm>
          <a:prstGeom prst="rect">
            <a:avLst/>
          </a:prstGeom>
          <a:noFill/>
        </p:spPr>
        <p:txBody>
          <a:bodyPr wrap="square" lIns="0" tIns="0" rIns="0" bIns="0" anchor="ctr"/>
          <a:lstStyle/>
          <a:p>
            <a:pPr>
              <a:defRPr sz="950" b="1">
                <a:solidFill>
                  <a:srgbClr val="353334"/>
                </a:solidFill>
                <a:latin typeface="Mulish"/>
              </a:defRPr>
            </a:pPr>
            <a:r>
              <a:rPr lang="en-US" sz="950" b="1">
                <a:solidFill>
                  <a:srgbClr val="353334"/>
                </a:solidFill>
                <a:latin typeface="Mulish"/>
              </a:rPr>
              <a:t>No proof that scores predict hiring outcomes</a:t>
            </a:r>
          </a:p>
        </p:txBody>
      </p:sp>
      <p:sp>
        <p:nvSpPr>
          <p:cNvPr id="265" name="Cell 7-2"/>
          <p:cNvSpPr txBox="1"/>
          <p:nvPr/>
        </p:nvSpPr>
        <p:spPr>
          <a:xfrm>
            <a:off x="4572000" y="5887062"/>
            <a:ext cx="4114800" cy="520897"/>
          </a:xfrm>
          <a:prstGeom prst="rect">
            <a:avLst/>
          </a:prstGeom>
          <a:noFill/>
        </p:spPr>
        <p:txBody>
          <a:bodyPr wrap="square" lIns="0" tIns="0" rIns="0" bIns="0" anchor="ctr"/>
          <a:lstStyle/>
          <a:p>
            <a:pPr>
              <a:defRPr sz="950">
                <a:solidFill>
                  <a:srgbClr val="3C3C41"/>
                </a:solidFill>
                <a:latin typeface="Mulish"/>
              </a:defRPr>
            </a:pPr>
            <a:r>
              <a:rPr lang="en-US" sz="950">
                <a:solidFill>
                  <a:srgbClr val="3C3C41"/>
                </a:solidFill>
                <a:latin typeface="Mulish"/>
              </a:rPr>
              <a:t>The score is labelled diagnostic, not predictive. Next step: pilot against VIT Chennai placement data to compare scores with offers.</a:t>
            </a:r>
          </a:p>
        </p:txBody>
      </p:sp>
      <p:sp>
        <p:nvSpPr>
          <p:cNvPr id="266" name="Cell 7-3"/>
          <p:cNvSpPr txBox="1"/>
          <p:nvPr/>
        </p:nvSpPr>
        <p:spPr>
          <a:xfrm>
            <a:off x="8778240" y="5887062"/>
            <a:ext cx="2103120" cy="520897"/>
          </a:xfrm>
          <a:prstGeom prst="rect">
            <a:avLst/>
          </a:prstGeom>
          <a:noFill/>
        </p:spPr>
        <p:txBody>
          <a:bodyPr wrap="square" lIns="0" tIns="0" rIns="0" bIns="0" anchor="ctr"/>
          <a:lstStyle/>
          <a:p>
            <a:pPr>
              <a:defRPr sz="950">
                <a:solidFill>
                  <a:srgbClr val="3C3C41"/>
                </a:solidFill>
                <a:latin typeface="Mulish"/>
              </a:defRPr>
            </a:pPr>
            <a:r>
              <a:rPr lang="en-US" sz="950">
                <a:solidFill>
                  <a:srgbClr val="3C3C41"/>
                </a:solidFill>
                <a:latin typeface="Mulish"/>
              </a:rPr>
              <a:t>After the hackathon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1096</Words>
  <Application>Microsoft Office PowerPoint</Application>
  <PresentationFormat>Widescreen</PresentationFormat>
  <Paragraphs>151</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Kivin Ramesh</cp:lastModifiedBy>
  <cp:revision>7</cp:revision>
  <dcterms:created xsi:type="dcterms:W3CDTF">2013-01-27T09:14:16Z</dcterms:created>
  <dcterms:modified xsi:type="dcterms:W3CDTF">2026-10-07T06:08:27Z</dcterms:modified>
  <cp:category/>
</cp:coreProperties>
</file>